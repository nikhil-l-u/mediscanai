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5" r:id="rId19"/>
    <p:sldId id="274" r:id="rId20"/>
  </p:sldIdLst>
  <p:sldSz cx="18288000" cy="10287000"/>
  <p:notesSz cx="6858000" cy="9144000"/>
  <p:embeddedFontLst>
    <p:embeddedFont>
      <p:font typeface="Roboto Bold" panose="020B0604020202020204" charset="0"/>
      <p:regular r:id="rId21"/>
    </p:embeddedFont>
    <p:embeddedFont>
      <p:font typeface="Times New Roman Bold" panose="02020803070505020304" pitchFamily="18"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2.sv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2.sv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2.sv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12.sv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2.sv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12.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1.sv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hyperlink" Target="https://github.com/Tarung33/MediscanAI.git"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3990"/>
        </a:solidFill>
        <a:effectLst/>
      </p:bgPr>
    </p:bg>
    <p:spTree>
      <p:nvGrpSpPr>
        <p:cNvPr id="1" name=""/>
        <p:cNvGrpSpPr/>
        <p:nvPr/>
      </p:nvGrpSpPr>
      <p:grpSpPr>
        <a:xfrm>
          <a:off x="0" y="0"/>
          <a:ext cx="0" cy="0"/>
          <a:chOff x="0" y="0"/>
          <a:chExt cx="0" cy="0"/>
        </a:xfrm>
      </p:grpSpPr>
      <p:sp>
        <p:nvSpPr>
          <p:cNvPr id="2" name="Freeform 2"/>
          <p:cNvSpPr/>
          <p:nvPr/>
        </p:nvSpPr>
        <p:spPr>
          <a:xfrm>
            <a:off x="220504" y="-126987"/>
            <a:ext cx="18194503" cy="9637662"/>
          </a:xfrm>
          <a:custGeom>
            <a:avLst/>
            <a:gdLst/>
            <a:ahLst/>
            <a:cxnLst/>
            <a:rect l="l" t="t" r="r" b="b"/>
            <a:pathLst>
              <a:path w="18194503" h="9637662">
                <a:moveTo>
                  <a:pt x="0" y="0"/>
                </a:moveTo>
                <a:lnTo>
                  <a:pt x="18194502" y="0"/>
                </a:lnTo>
                <a:lnTo>
                  <a:pt x="18194502" y="9637661"/>
                </a:lnTo>
                <a:lnTo>
                  <a:pt x="0" y="96376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47491" y="128054"/>
            <a:ext cx="2704452" cy="2763241"/>
          </a:xfrm>
          <a:custGeom>
            <a:avLst/>
            <a:gdLst/>
            <a:ahLst/>
            <a:cxnLst/>
            <a:rect l="l" t="t" r="r" b="b"/>
            <a:pathLst>
              <a:path w="2704452" h="2763241">
                <a:moveTo>
                  <a:pt x="0" y="0"/>
                </a:moveTo>
                <a:lnTo>
                  <a:pt x="2704452" y="0"/>
                </a:lnTo>
                <a:lnTo>
                  <a:pt x="2704452" y="2763241"/>
                </a:lnTo>
                <a:lnTo>
                  <a:pt x="0" y="2763241"/>
                </a:lnTo>
                <a:lnTo>
                  <a:pt x="0" y="0"/>
                </a:lnTo>
                <a:close/>
              </a:path>
            </a:pathLst>
          </a:custGeom>
          <a:blipFill>
            <a:blip r:embed="rId4"/>
            <a:stretch>
              <a:fillRect/>
            </a:stretch>
          </a:blipFill>
        </p:spPr>
        <p:txBody>
          <a:bodyPr/>
          <a:lstStyle/>
          <a:p>
            <a:endParaRPr lang="en-IN"/>
          </a:p>
        </p:txBody>
      </p:sp>
      <p:sp>
        <p:nvSpPr>
          <p:cNvPr id="4" name="Freeform 4"/>
          <p:cNvSpPr/>
          <p:nvPr/>
        </p:nvSpPr>
        <p:spPr>
          <a:xfrm>
            <a:off x="15144369" y="0"/>
            <a:ext cx="3143631" cy="3040932"/>
          </a:xfrm>
          <a:custGeom>
            <a:avLst/>
            <a:gdLst/>
            <a:ahLst/>
            <a:cxnLst/>
            <a:rect l="l" t="t" r="r" b="b"/>
            <a:pathLst>
              <a:path w="3143631" h="3040932">
                <a:moveTo>
                  <a:pt x="0" y="0"/>
                </a:moveTo>
                <a:lnTo>
                  <a:pt x="3143631" y="0"/>
                </a:lnTo>
                <a:lnTo>
                  <a:pt x="3143631" y="3040932"/>
                </a:lnTo>
                <a:lnTo>
                  <a:pt x="0" y="30409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15144369" y="0"/>
            <a:ext cx="3143631" cy="3040932"/>
          </a:xfrm>
          <a:custGeom>
            <a:avLst/>
            <a:gdLst/>
            <a:ahLst/>
            <a:cxnLst/>
            <a:rect l="l" t="t" r="r" b="b"/>
            <a:pathLst>
              <a:path w="3143631" h="3040932">
                <a:moveTo>
                  <a:pt x="0" y="0"/>
                </a:moveTo>
                <a:lnTo>
                  <a:pt x="3143631" y="0"/>
                </a:lnTo>
                <a:lnTo>
                  <a:pt x="3143631" y="3040932"/>
                </a:lnTo>
                <a:lnTo>
                  <a:pt x="0" y="3040932"/>
                </a:lnTo>
                <a:lnTo>
                  <a:pt x="0" y="0"/>
                </a:lnTo>
                <a:close/>
              </a:path>
            </a:pathLst>
          </a:custGeom>
          <a:blipFill>
            <a:blip r:embed="rId7"/>
            <a:stretch>
              <a:fillRect t="-6702" r="-6396"/>
            </a:stretch>
          </a:blipFill>
        </p:spPr>
        <p:txBody>
          <a:bodyPr/>
          <a:lstStyle/>
          <a:p>
            <a:endParaRPr lang="en-IN"/>
          </a:p>
        </p:txBody>
      </p:sp>
      <p:sp>
        <p:nvSpPr>
          <p:cNvPr id="6" name="Freeform 6"/>
          <p:cNvSpPr/>
          <p:nvPr/>
        </p:nvSpPr>
        <p:spPr>
          <a:xfrm>
            <a:off x="3571723" y="415347"/>
            <a:ext cx="9945605" cy="2006403"/>
          </a:xfrm>
          <a:custGeom>
            <a:avLst/>
            <a:gdLst/>
            <a:ahLst/>
            <a:cxnLst/>
            <a:rect l="l" t="t" r="r" b="b"/>
            <a:pathLst>
              <a:path w="9945605" h="2006403">
                <a:moveTo>
                  <a:pt x="0" y="0"/>
                </a:moveTo>
                <a:lnTo>
                  <a:pt x="9945605" y="0"/>
                </a:lnTo>
                <a:lnTo>
                  <a:pt x="9945605" y="2006403"/>
                </a:lnTo>
                <a:lnTo>
                  <a:pt x="0" y="200640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 name="TextBox 7"/>
          <p:cNvSpPr txBox="1"/>
          <p:nvPr/>
        </p:nvSpPr>
        <p:spPr>
          <a:xfrm>
            <a:off x="6256071" y="3475482"/>
            <a:ext cx="6123369" cy="685800"/>
          </a:xfrm>
          <a:prstGeom prst="rect">
            <a:avLst/>
          </a:prstGeom>
        </p:spPr>
        <p:txBody>
          <a:bodyPr lIns="0" tIns="0" rIns="0" bIns="0" rtlCol="0" anchor="t">
            <a:spAutoFit/>
          </a:bodyPr>
          <a:lstStyle/>
          <a:p>
            <a:pPr algn="l">
              <a:lnSpc>
                <a:spcPts val="5280"/>
              </a:lnSpc>
            </a:pPr>
            <a:r>
              <a:rPr lang="en-US" sz="4400" b="1">
                <a:solidFill>
                  <a:srgbClr val="FFFFFF"/>
                </a:solidFill>
                <a:latin typeface="Times New Roman Bold"/>
                <a:ea typeface="Times New Roman Bold"/>
                <a:cs typeface="Times New Roman Bold"/>
                <a:sym typeface="Times New Roman Bold"/>
              </a:rPr>
              <a:t>Mini Project – Seminar</a:t>
            </a:r>
          </a:p>
        </p:txBody>
      </p:sp>
      <p:sp>
        <p:nvSpPr>
          <p:cNvPr id="8" name="TextBox 8"/>
          <p:cNvSpPr txBox="1"/>
          <p:nvPr/>
        </p:nvSpPr>
        <p:spPr>
          <a:xfrm>
            <a:off x="766593" y="4428490"/>
            <a:ext cx="16754815" cy="1410970"/>
          </a:xfrm>
          <a:prstGeom prst="rect">
            <a:avLst/>
          </a:prstGeom>
        </p:spPr>
        <p:txBody>
          <a:bodyPr lIns="0" tIns="0" rIns="0" bIns="0" rtlCol="0" anchor="t">
            <a:spAutoFit/>
          </a:bodyPr>
          <a:lstStyle/>
          <a:p>
            <a:pPr algn="ctr">
              <a:lnSpc>
                <a:spcPts val="5280"/>
              </a:lnSpc>
            </a:pPr>
            <a:r>
              <a:rPr lang="en-US" sz="4400" b="1">
                <a:solidFill>
                  <a:srgbClr val="FFFFFF"/>
                </a:solidFill>
                <a:latin typeface="Times New Roman Bold"/>
                <a:ea typeface="Times New Roman Bold"/>
                <a:cs typeface="Times New Roman Bold"/>
                <a:sym typeface="Times New Roman Bold"/>
              </a:rPr>
              <a:t> On </a:t>
            </a:r>
          </a:p>
          <a:p>
            <a:pPr algn="ctr">
              <a:lnSpc>
                <a:spcPts val="6159"/>
              </a:lnSpc>
            </a:pPr>
            <a:r>
              <a:rPr lang="en-US" sz="4400">
                <a:solidFill>
                  <a:srgbClr val="FFFFFF"/>
                </a:solidFill>
                <a:latin typeface="Times New Roman"/>
                <a:ea typeface="Times New Roman"/>
                <a:cs typeface="Times New Roman"/>
                <a:sym typeface="Times New Roman"/>
              </a:rPr>
              <a:t>‘‘ MediScan AI : Instant Patient History Retrieval &amp; Emergency Aid ’’</a:t>
            </a:r>
          </a:p>
        </p:txBody>
      </p:sp>
      <p:sp>
        <p:nvSpPr>
          <p:cNvPr id="9" name="TextBox 9"/>
          <p:cNvSpPr txBox="1"/>
          <p:nvPr/>
        </p:nvSpPr>
        <p:spPr>
          <a:xfrm>
            <a:off x="1028700" y="6562725"/>
            <a:ext cx="4572992" cy="2967355"/>
          </a:xfrm>
          <a:prstGeom prst="rect">
            <a:avLst/>
          </a:prstGeom>
        </p:spPr>
        <p:txBody>
          <a:bodyPr lIns="0" tIns="0" rIns="0" bIns="0" rtlCol="0" anchor="t">
            <a:spAutoFit/>
          </a:bodyPr>
          <a:lstStyle/>
          <a:p>
            <a:pPr algn="just">
              <a:lnSpc>
                <a:spcPts val="4480"/>
              </a:lnSpc>
            </a:pPr>
            <a:r>
              <a:rPr lang="en-US" sz="2800" b="1">
                <a:solidFill>
                  <a:srgbClr val="FFFFFF"/>
                </a:solidFill>
                <a:latin typeface="Times New Roman Bold"/>
                <a:ea typeface="Times New Roman Bold"/>
                <a:cs typeface="Times New Roman Bold"/>
                <a:sym typeface="Times New Roman Bold"/>
              </a:rPr>
              <a:t>Presented By,  </a:t>
            </a:r>
          </a:p>
          <a:p>
            <a:pPr algn="just">
              <a:lnSpc>
                <a:spcPts val="4480"/>
              </a:lnSpc>
            </a:pPr>
            <a:r>
              <a:rPr lang="en-US" sz="2800" b="1">
                <a:solidFill>
                  <a:srgbClr val="FFFFFF"/>
                </a:solidFill>
                <a:latin typeface="Times New Roman Bold"/>
                <a:ea typeface="Times New Roman Bold"/>
                <a:cs typeface="Times New Roman Bold"/>
                <a:sym typeface="Times New Roman Bold"/>
              </a:rPr>
              <a:t>Group No : 04</a:t>
            </a:r>
          </a:p>
          <a:p>
            <a:pPr algn="just">
              <a:lnSpc>
                <a:spcPts val="4480"/>
              </a:lnSpc>
            </a:pPr>
            <a:r>
              <a:rPr lang="en-US" sz="2800">
                <a:solidFill>
                  <a:srgbClr val="FFFFFF"/>
                </a:solidFill>
                <a:latin typeface="Times New Roman"/>
                <a:ea typeface="Times New Roman"/>
                <a:cs typeface="Times New Roman"/>
                <a:sym typeface="Times New Roman"/>
              </a:rPr>
              <a:t>Tarun G           (4AI23CD056)</a:t>
            </a:r>
          </a:p>
          <a:p>
            <a:pPr algn="just">
              <a:lnSpc>
                <a:spcPts val="3360"/>
              </a:lnSpc>
            </a:pPr>
            <a:r>
              <a:rPr lang="en-US" sz="2800">
                <a:solidFill>
                  <a:srgbClr val="FFFFFF"/>
                </a:solidFill>
                <a:latin typeface="Times New Roman"/>
                <a:ea typeface="Times New Roman"/>
                <a:cs typeface="Times New Roman"/>
                <a:sym typeface="Times New Roman"/>
              </a:rPr>
              <a:t>Sai Gokul P V (4AI23CD045)</a:t>
            </a:r>
          </a:p>
          <a:p>
            <a:pPr algn="just">
              <a:lnSpc>
                <a:spcPts val="3360"/>
              </a:lnSpc>
            </a:pPr>
            <a:r>
              <a:rPr lang="en-US" sz="2800">
                <a:solidFill>
                  <a:srgbClr val="FFFFFF"/>
                </a:solidFill>
                <a:latin typeface="Times New Roman"/>
                <a:ea typeface="Times New Roman"/>
                <a:cs typeface="Times New Roman"/>
                <a:sym typeface="Times New Roman"/>
              </a:rPr>
              <a:t>Likeeth G Urs (4AI23CD025)</a:t>
            </a:r>
          </a:p>
          <a:p>
            <a:pPr algn="just">
              <a:lnSpc>
                <a:spcPts val="3359"/>
              </a:lnSpc>
            </a:pPr>
            <a:r>
              <a:rPr lang="en-US" sz="2799">
                <a:solidFill>
                  <a:srgbClr val="FFFFFF"/>
                </a:solidFill>
                <a:latin typeface="Times New Roman"/>
                <a:ea typeface="Times New Roman"/>
                <a:cs typeface="Times New Roman"/>
                <a:sym typeface="Times New Roman"/>
              </a:rPr>
              <a:t>Nikhil L U        (4AI23CD031)</a:t>
            </a:r>
          </a:p>
        </p:txBody>
      </p:sp>
      <p:sp>
        <p:nvSpPr>
          <p:cNvPr id="10" name="TextBox 10"/>
          <p:cNvSpPr txBox="1"/>
          <p:nvPr/>
        </p:nvSpPr>
        <p:spPr>
          <a:xfrm>
            <a:off x="12539740" y="6562725"/>
            <a:ext cx="4176444" cy="1086485"/>
          </a:xfrm>
          <a:prstGeom prst="rect">
            <a:avLst/>
          </a:prstGeom>
        </p:spPr>
        <p:txBody>
          <a:bodyPr lIns="0" tIns="0" rIns="0" bIns="0" rtlCol="0" anchor="t">
            <a:spAutoFit/>
          </a:bodyPr>
          <a:lstStyle/>
          <a:p>
            <a:pPr algn="l">
              <a:lnSpc>
                <a:spcPts val="4480"/>
              </a:lnSpc>
            </a:pPr>
            <a:r>
              <a:rPr lang="en-US" sz="2800" b="1">
                <a:solidFill>
                  <a:srgbClr val="FFFFFF"/>
                </a:solidFill>
                <a:latin typeface="Times New Roman Bold"/>
                <a:ea typeface="Times New Roman Bold"/>
                <a:cs typeface="Times New Roman Bold"/>
                <a:sym typeface="Times New Roman Bold"/>
              </a:rPr>
              <a:t>Under the Guidance Of</a:t>
            </a:r>
          </a:p>
          <a:p>
            <a:pPr algn="l">
              <a:lnSpc>
                <a:spcPts val="4480"/>
              </a:lnSpc>
            </a:pPr>
            <a:r>
              <a:rPr lang="en-US" sz="2799">
                <a:solidFill>
                  <a:srgbClr val="FFFFFF"/>
                </a:solidFill>
                <a:latin typeface="Times New Roman"/>
                <a:ea typeface="Times New Roman"/>
                <a:cs typeface="Times New Roman"/>
                <a:sym typeface="Times New Roman"/>
              </a:rPr>
              <a:t>Asst Prof . Harshitha H D</a:t>
            </a:r>
          </a:p>
        </p:txBody>
      </p:sp>
      <p:sp>
        <p:nvSpPr>
          <p:cNvPr id="11" name="TextBox 11"/>
          <p:cNvSpPr txBox="1"/>
          <p:nvPr/>
        </p:nvSpPr>
        <p:spPr>
          <a:xfrm>
            <a:off x="4317111" y="599027"/>
            <a:ext cx="8615705" cy="1652226"/>
          </a:xfrm>
          <a:prstGeom prst="rect">
            <a:avLst/>
          </a:prstGeom>
        </p:spPr>
        <p:txBody>
          <a:bodyPr lIns="0" tIns="0" rIns="0" bIns="0" rtlCol="0" anchor="t">
            <a:spAutoFit/>
          </a:bodyPr>
          <a:lstStyle/>
          <a:p>
            <a:pPr algn="ctr">
              <a:lnSpc>
                <a:spcPts val="4320"/>
              </a:lnSpc>
            </a:pPr>
            <a:r>
              <a:rPr lang="en-US" sz="3600" b="1">
                <a:solidFill>
                  <a:srgbClr val="F2F2F2"/>
                </a:solidFill>
                <a:latin typeface="Roboto Bold"/>
                <a:ea typeface="Roboto Bold"/>
                <a:cs typeface="Roboto Bold"/>
                <a:sym typeface="Roboto Bold"/>
              </a:rPr>
              <a:t>Dept. of CS&amp;E ( DATA SCIENCE) Adichunchanagiri Institute of Technology Chikkamagaluru - 577102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8839"/>
            <a:ext cx="18541994" cy="10405148"/>
          </a:xfrm>
          <a:custGeom>
            <a:avLst/>
            <a:gdLst/>
            <a:ahLst/>
            <a:cxnLst/>
            <a:rect l="l" t="t" r="r" b="b"/>
            <a:pathLst>
              <a:path w="18541994" h="10405148">
                <a:moveTo>
                  <a:pt x="0" y="0"/>
                </a:moveTo>
                <a:lnTo>
                  <a:pt x="18541993" y="0"/>
                </a:lnTo>
                <a:lnTo>
                  <a:pt x="18541993" y="10405148"/>
                </a:lnTo>
                <a:lnTo>
                  <a:pt x="0" y="104051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319704" cy="981380"/>
          </a:xfrm>
          <a:custGeom>
            <a:avLst/>
            <a:gdLst/>
            <a:ahLst/>
            <a:cxnLst/>
            <a:rect l="l" t="t" r="r" b="b"/>
            <a:pathLst>
              <a:path w="1319704" h="981380">
                <a:moveTo>
                  <a:pt x="0" y="0"/>
                </a:moveTo>
                <a:lnTo>
                  <a:pt x="1319704" y="0"/>
                </a:lnTo>
                <a:lnTo>
                  <a:pt x="1319704" y="981380"/>
                </a:lnTo>
                <a:lnTo>
                  <a:pt x="0" y="9813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TextBox 4"/>
          <p:cNvSpPr txBox="1"/>
          <p:nvPr/>
        </p:nvSpPr>
        <p:spPr>
          <a:xfrm>
            <a:off x="7798346" y="235153"/>
            <a:ext cx="2742800" cy="922915"/>
          </a:xfrm>
          <a:prstGeom prst="rect">
            <a:avLst/>
          </a:prstGeom>
        </p:spPr>
        <p:txBody>
          <a:bodyPr lIns="0" tIns="0" rIns="0" bIns="0" rtlCol="0" anchor="t">
            <a:spAutoFit/>
          </a:bodyPr>
          <a:lstStyle/>
          <a:p>
            <a:pPr algn="l">
              <a:lnSpc>
                <a:spcPts val="7559"/>
              </a:lnSpc>
            </a:pPr>
            <a:r>
              <a:rPr lang="en-US" sz="5400" b="1">
                <a:solidFill>
                  <a:srgbClr val="2A3990"/>
                </a:solidFill>
                <a:latin typeface="Roboto Bold"/>
                <a:ea typeface="Roboto Bold"/>
                <a:cs typeface="Roboto Bold"/>
                <a:sym typeface="Roboto Bold"/>
              </a:rPr>
              <a:t>AGENDA</a:t>
            </a:r>
          </a:p>
        </p:txBody>
      </p:sp>
      <p:sp>
        <p:nvSpPr>
          <p:cNvPr id="5" name="TextBox 5"/>
          <p:cNvSpPr txBox="1"/>
          <p:nvPr/>
        </p:nvSpPr>
        <p:spPr>
          <a:xfrm>
            <a:off x="1028700" y="933450"/>
            <a:ext cx="7434758" cy="8407751"/>
          </a:xfrm>
          <a:prstGeom prst="rect">
            <a:avLst/>
          </a:prstGeom>
        </p:spPr>
        <p:txBody>
          <a:bodyPr lIns="0" tIns="0" rIns="0" bIns="0" rtlCol="0" anchor="t">
            <a:spAutoFit/>
          </a:bodyPr>
          <a:lstStyle/>
          <a:p>
            <a:pPr algn="l">
              <a:lnSpc>
                <a:spcPts val="5520"/>
              </a:lnSpc>
            </a:pPr>
            <a:endParaRPr dirty="0"/>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Problem Statement</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Scope of the Project</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Project Design</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Methodology</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Implementation</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Challenges Faced</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Results</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Conclusion</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Future Work</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GitHub Link</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Question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534224"/>
            <a:ext cx="18541994" cy="8870924"/>
          </a:xfrm>
          <a:custGeom>
            <a:avLst/>
            <a:gdLst/>
            <a:ahLst/>
            <a:cxnLst/>
            <a:rect l="l" t="t" r="r" b="b"/>
            <a:pathLst>
              <a:path w="18541994" h="8870924">
                <a:moveTo>
                  <a:pt x="0" y="0"/>
                </a:moveTo>
                <a:lnTo>
                  <a:pt x="18541994" y="0"/>
                </a:lnTo>
                <a:lnTo>
                  <a:pt x="18541994" y="8870924"/>
                </a:lnTo>
                <a:lnTo>
                  <a:pt x="0" y="8870924"/>
                </a:lnTo>
                <a:lnTo>
                  <a:pt x="0" y="0"/>
                </a:lnTo>
                <a:close/>
              </a:path>
            </a:pathLst>
          </a:custGeom>
          <a:blipFill>
            <a:blip r:embed="rId2">
              <a:extLst>
                <a:ext uri="{96DAC541-7B7A-43D3-8B79-37D633B846F1}">
                  <asvg:svgBlip xmlns:asvg="http://schemas.microsoft.com/office/drawing/2016/SVG/main" r:embed="rId3"/>
                </a:ext>
              </a:extLst>
            </a:blip>
            <a:stretch>
              <a:fillRect t="-17294"/>
            </a:stretch>
          </a:blipFill>
        </p:spPr>
        <p:txBody>
          <a:bodyPr/>
          <a:lstStyle/>
          <a:p>
            <a:endParaRPr lang="en-IN"/>
          </a:p>
        </p:txBody>
      </p:sp>
      <p:sp>
        <p:nvSpPr>
          <p:cNvPr id="3" name="Freeform 3"/>
          <p:cNvSpPr/>
          <p:nvPr/>
        </p:nvSpPr>
        <p:spPr>
          <a:xfrm>
            <a:off x="131436" y="339928"/>
            <a:ext cx="1474433" cy="1096442"/>
          </a:xfrm>
          <a:custGeom>
            <a:avLst/>
            <a:gdLst/>
            <a:ahLst/>
            <a:cxnLst/>
            <a:rect l="l" t="t" r="r" b="b"/>
            <a:pathLst>
              <a:path w="1474433" h="1096442">
                <a:moveTo>
                  <a:pt x="0" y="0"/>
                </a:moveTo>
                <a:lnTo>
                  <a:pt x="1474433" y="0"/>
                </a:lnTo>
                <a:lnTo>
                  <a:pt x="1474433" y="1096442"/>
                </a:lnTo>
                <a:lnTo>
                  <a:pt x="0" y="10964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5206497" y="516255"/>
            <a:ext cx="7875007"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PROBLEM  STATEMENT</a:t>
            </a:r>
          </a:p>
        </p:txBody>
      </p:sp>
      <p:sp>
        <p:nvSpPr>
          <p:cNvPr id="6" name="TextBox 6"/>
          <p:cNvSpPr txBox="1"/>
          <p:nvPr/>
        </p:nvSpPr>
        <p:spPr>
          <a:xfrm>
            <a:off x="1279127" y="2619938"/>
            <a:ext cx="15729745" cy="2512676"/>
          </a:xfrm>
          <a:prstGeom prst="rect">
            <a:avLst/>
          </a:prstGeom>
        </p:spPr>
        <p:txBody>
          <a:bodyPr lIns="0" tIns="0" rIns="0" bIns="0" rtlCol="0" anchor="t">
            <a:spAutoFit/>
          </a:bodyPr>
          <a:lstStyle/>
          <a:p>
            <a:pPr>
              <a:lnSpc>
                <a:spcPts val="5040"/>
              </a:lnSpc>
            </a:pPr>
            <a:r>
              <a:rPr lang="en-US" sz="3600" dirty="0">
                <a:latin typeface="Times New Roman" panose="02020603050405020304" pitchFamily="18" charset="0"/>
                <a:cs typeface="Times New Roman" panose="02020603050405020304" pitchFamily="18" charset="0"/>
              </a:rPr>
              <a:t>	This platform provides doctors with instant access to patient medical history using phone number, name and place. AI modules summarize history and highlight emergency risks, ensuring faster, safer treatment and preventing loss of life due to inaccessible records.</a:t>
            </a:r>
            <a:endParaRPr lang="en-US"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1266" y="1469211"/>
            <a:ext cx="18530532" cy="8977043"/>
          </a:xfrm>
          <a:custGeom>
            <a:avLst/>
            <a:gdLst/>
            <a:ahLst/>
            <a:cxnLst/>
            <a:rect l="l" t="t" r="r" b="b"/>
            <a:pathLst>
              <a:path w="18530532" h="8977043">
                <a:moveTo>
                  <a:pt x="0" y="0"/>
                </a:moveTo>
                <a:lnTo>
                  <a:pt x="18530532" y="0"/>
                </a:lnTo>
                <a:lnTo>
                  <a:pt x="18530532" y="8977043"/>
                </a:lnTo>
                <a:lnTo>
                  <a:pt x="0" y="8977043"/>
                </a:lnTo>
                <a:lnTo>
                  <a:pt x="0" y="0"/>
                </a:lnTo>
                <a:close/>
              </a:path>
            </a:pathLst>
          </a:custGeom>
          <a:blipFill>
            <a:blip r:embed="rId2">
              <a:extLst>
                <a:ext uri="{96DAC541-7B7A-43D3-8B79-37D633B846F1}">
                  <asvg:svgBlip xmlns:asvg="http://schemas.microsoft.com/office/drawing/2016/SVG/main" r:embed="rId3"/>
                </a:ext>
              </a:extLst>
            </a:blip>
            <a:stretch>
              <a:fillRect t="-15251"/>
            </a:stretch>
          </a:blipFill>
        </p:spPr>
        <p:txBody>
          <a:bodyPr/>
          <a:lstStyle/>
          <a:p>
            <a:endParaRPr lang="en-IN"/>
          </a:p>
        </p:txBody>
      </p:sp>
      <p:sp>
        <p:nvSpPr>
          <p:cNvPr id="3" name="Freeform 3"/>
          <p:cNvSpPr/>
          <p:nvPr/>
        </p:nvSpPr>
        <p:spPr>
          <a:xfrm>
            <a:off x="131436" y="339928"/>
            <a:ext cx="1318353" cy="980375"/>
          </a:xfrm>
          <a:custGeom>
            <a:avLst/>
            <a:gdLst/>
            <a:ahLst/>
            <a:cxnLst/>
            <a:rect l="l" t="t" r="r" b="b"/>
            <a:pathLst>
              <a:path w="1318353" h="980375">
                <a:moveTo>
                  <a:pt x="0" y="0"/>
                </a:moveTo>
                <a:lnTo>
                  <a:pt x="1318353" y="0"/>
                </a:lnTo>
                <a:lnTo>
                  <a:pt x="1318353" y="980376"/>
                </a:lnTo>
                <a:lnTo>
                  <a:pt x="0" y="9803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12035817" y="4619307"/>
            <a:ext cx="5347173" cy="2971327"/>
          </a:xfrm>
          <a:custGeom>
            <a:avLst/>
            <a:gdLst/>
            <a:ahLst/>
            <a:cxnLst/>
            <a:rect l="l" t="t" r="r" b="b"/>
            <a:pathLst>
              <a:path w="5347173" h="2971327">
                <a:moveTo>
                  <a:pt x="0" y="0"/>
                </a:moveTo>
                <a:lnTo>
                  <a:pt x="5347172" y="0"/>
                </a:lnTo>
                <a:lnTo>
                  <a:pt x="5347172" y="2971327"/>
                </a:lnTo>
                <a:lnTo>
                  <a:pt x="0" y="2971327"/>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4964050" y="400189"/>
            <a:ext cx="8359900"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SCOPE OF THE PROJECT</a:t>
            </a:r>
          </a:p>
        </p:txBody>
      </p:sp>
      <p:sp>
        <p:nvSpPr>
          <p:cNvPr id="6" name="TextBox 6"/>
          <p:cNvSpPr txBox="1"/>
          <p:nvPr/>
        </p:nvSpPr>
        <p:spPr>
          <a:xfrm>
            <a:off x="1028700" y="4514760"/>
            <a:ext cx="15729745" cy="4556125"/>
          </a:xfrm>
          <a:prstGeom prst="rect">
            <a:avLst/>
          </a:prstGeom>
        </p:spPr>
        <p:txBody>
          <a:bodyPr lIns="0" tIns="0" rIns="0" bIns="0" rtlCol="0" anchor="t">
            <a:spAutoFit/>
          </a:bodyPr>
          <a:lstStyle/>
          <a:p>
            <a:pPr algn="l">
              <a:lnSpc>
                <a:spcPts val="6159"/>
              </a:lnSpc>
            </a:pPr>
            <a:r>
              <a:rPr lang="en-US" sz="4399" b="1">
                <a:solidFill>
                  <a:srgbClr val="000000"/>
                </a:solidFill>
                <a:latin typeface="Times New Roman Bold"/>
                <a:ea typeface="Times New Roman Bold"/>
                <a:cs typeface="Times New Roman Bold"/>
                <a:sym typeface="Times New Roman Bold"/>
              </a:rPr>
              <a:t>Key Features</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Instant retrieval of patient medical history.</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AI summarizer of medical records.</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Emergency risk indicator.</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Useful for hospitals, emergency wards, and doctors.</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Allow multi-mode search: health ID , phone number and name.</a:t>
            </a:r>
          </a:p>
          <a:p>
            <a:pPr algn="l">
              <a:lnSpc>
                <a:spcPts val="5040"/>
              </a:lnSpc>
            </a:pPr>
            <a:endParaRPr lang="en-US" sz="3600">
              <a:solidFill>
                <a:srgbClr val="000000"/>
              </a:solidFill>
              <a:latin typeface="Times New Roman"/>
              <a:ea typeface="Times New Roman"/>
              <a:cs typeface="Times New Roman"/>
              <a:sym typeface="Times New Roman"/>
            </a:endParaRPr>
          </a:p>
        </p:txBody>
      </p:sp>
      <p:sp>
        <p:nvSpPr>
          <p:cNvPr id="7" name="TextBox 7"/>
          <p:cNvSpPr txBox="1"/>
          <p:nvPr/>
        </p:nvSpPr>
        <p:spPr>
          <a:xfrm>
            <a:off x="1028700" y="1662975"/>
            <a:ext cx="16230600" cy="2518410"/>
          </a:xfrm>
          <a:prstGeom prst="rect">
            <a:avLst/>
          </a:prstGeom>
        </p:spPr>
        <p:txBody>
          <a:bodyPr lIns="0" tIns="0" rIns="0" bIns="0" rtlCol="0" anchor="t">
            <a:spAutoFit/>
          </a:bodyPr>
          <a:lstStyle/>
          <a:p>
            <a:pPr algn="l">
              <a:lnSpc>
                <a:spcPts val="5040"/>
              </a:lnSpc>
            </a:pPr>
            <a:r>
              <a:rPr lang="en-US" sz="3600">
                <a:solidFill>
                  <a:srgbClr val="000000"/>
                </a:solidFill>
                <a:latin typeface="Times New Roman"/>
                <a:ea typeface="Times New Roman"/>
                <a:cs typeface="Times New Roman"/>
                <a:sym typeface="Times New Roman"/>
              </a:rPr>
              <a:t>MediScan AI focuses on providing instant access to patient medical history using AI summarizer. It aims to support doctors during emergencies by delivering quick, accurate, and reliable health information. The system enhances emergency decision-making through data retrieval and risk indicator.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622273"/>
            <a:ext cx="18541994" cy="8844974"/>
          </a:xfrm>
          <a:custGeom>
            <a:avLst/>
            <a:gdLst/>
            <a:ahLst/>
            <a:cxnLst/>
            <a:rect l="l" t="t" r="r" b="b"/>
            <a:pathLst>
              <a:path w="18541994" h="8844974">
                <a:moveTo>
                  <a:pt x="0" y="0"/>
                </a:moveTo>
                <a:lnTo>
                  <a:pt x="18541994" y="0"/>
                </a:lnTo>
                <a:lnTo>
                  <a:pt x="18541994" y="8844974"/>
                </a:lnTo>
                <a:lnTo>
                  <a:pt x="0" y="8844974"/>
                </a:lnTo>
                <a:lnTo>
                  <a:pt x="0" y="0"/>
                </a:lnTo>
                <a:close/>
              </a:path>
            </a:pathLst>
          </a:custGeom>
          <a:blipFill>
            <a:blip r:embed="rId2">
              <a:extLst>
                <a:ext uri="{96DAC541-7B7A-43D3-8B79-37D633B846F1}">
                  <asvg:svgBlip xmlns:asvg="http://schemas.microsoft.com/office/drawing/2016/SVG/main" r:embed="rId3"/>
                </a:ext>
              </a:extLst>
            </a:blip>
            <a:stretch>
              <a:fillRect t="-14961"/>
            </a:stretch>
          </a:blipFill>
        </p:spPr>
        <p:txBody>
          <a:bodyPr/>
          <a:lstStyle/>
          <a:p>
            <a:endParaRPr lang="en-IN"/>
          </a:p>
        </p:txBody>
      </p:sp>
      <p:sp>
        <p:nvSpPr>
          <p:cNvPr id="3" name="TextBox 3"/>
          <p:cNvSpPr txBox="1"/>
          <p:nvPr/>
        </p:nvSpPr>
        <p:spPr>
          <a:xfrm>
            <a:off x="1028700" y="1339215"/>
            <a:ext cx="10153614" cy="7484745"/>
          </a:xfrm>
          <a:prstGeom prst="rect">
            <a:avLst/>
          </a:prstGeom>
        </p:spPr>
        <p:txBody>
          <a:bodyPr lIns="0" tIns="0" rIns="0" bIns="0" rtlCol="0" anchor="t">
            <a:spAutoFit/>
          </a:bodyPr>
          <a:lstStyle/>
          <a:p>
            <a:pPr algn="l">
              <a:lnSpc>
                <a:spcPts val="6439"/>
              </a:lnSpc>
            </a:pPr>
            <a:r>
              <a:rPr lang="en-US" sz="4599" b="1">
                <a:solidFill>
                  <a:srgbClr val="000000"/>
                </a:solidFill>
                <a:latin typeface="Times New Roman Bold"/>
                <a:ea typeface="Times New Roman Bold"/>
                <a:cs typeface="Times New Roman Bold"/>
                <a:sym typeface="Times New Roman Bold"/>
              </a:rPr>
              <a:t>System components :</a:t>
            </a:r>
          </a:p>
          <a:p>
            <a:pPr algn="l">
              <a:lnSpc>
                <a:spcPts val="5319"/>
              </a:lnSpc>
            </a:pPr>
            <a:r>
              <a:rPr lang="en-US" sz="3799" b="1">
                <a:solidFill>
                  <a:srgbClr val="000000"/>
                </a:solidFill>
                <a:latin typeface="Times New Roman Bold"/>
                <a:ea typeface="Times New Roman Bold"/>
                <a:cs typeface="Times New Roman Bold"/>
                <a:sym typeface="Times New Roman Bold"/>
              </a:rPr>
              <a:t>Frontend:</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Framework:</a:t>
            </a:r>
            <a:r>
              <a:rPr lang="en-US" sz="3799">
                <a:solidFill>
                  <a:srgbClr val="000000"/>
                </a:solidFill>
                <a:latin typeface="Times New Roman"/>
                <a:ea typeface="Times New Roman"/>
                <a:cs typeface="Times New Roman"/>
                <a:sym typeface="Times New Roman"/>
              </a:rPr>
              <a:t> React (v18) built with Vite, Capacitor (Mobile)</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Language:</a:t>
            </a:r>
            <a:r>
              <a:rPr lang="en-US" sz="3799">
                <a:solidFill>
                  <a:srgbClr val="000000"/>
                </a:solidFill>
                <a:latin typeface="Times New Roman"/>
                <a:ea typeface="Times New Roman"/>
                <a:cs typeface="Times New Roman"/>
                <a:sym typeface="Times New Roman"/>
              </a:rPr>
              <a:t> TypeScript.</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Styling:</a:t>
            </a:r>
            <a:r>
              <a:rPr lang="en-US" sz="3799">
                <a:solidFill>
                  <a:srgbClr val="000000"/>
                </a:solidFill>
                <a:latin typeface="Times New Roman"/>
                <a:ea typeface="Times New Roman"/>
                <a:cs typeface="Times New Roman"/>
                <a:sym typeface="Times New Roman"/>
              </a:rPr>
              <a:t> Tailwind CSS.</a:t>
            </a:r>
          </a:p>
          <a:p>
            <a:pPr algn="l">
              <a:lnSpc>
                <a:spcPts val="5319"/>
              </a:lnSpc>
            </a:pPr>
            <a:r>
              <a:rPr lang="en-US" sz="3799" b="1">
                <a:solidFill>
                  <a:srgbClr val="000000"/>
                </a:solidFill>
                <a:latin typeface="Times New Roman Bold"/>
                <a:ea typeface="Times New Roman Bold"/>
                <a:cs typeface="Times New Roman Bold"/>
                <a:sym typeface="Times New Roman Bold"/>
              </a:rPr>
              <a:t>Backend:</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Runtime:</a:t>
            </a:r>
            <a:r>
              <a:rPr lang="en-US" sz="3799">
                <a:solidFill>
                  <a:srgbClr val="000000"/>
                </a:solidFill>
                <a:latin typeface="Times New Roman"/>
                <a:ea typeface="Times New Roman"/>
                <a:cs typeface="Times New Roman"/>
                <a:sym typeface="Times New Roman"/>
              </a:rPr>
              <a:t> Node.js.</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Framework:</a:t>
            </a:r>
            <a:r>
              <a:rPr lang="en-US" sz="3799">
                <a:solidFill>
                  <a:srgbClr val="000000"/>
                </a:solidFill>
                <a:latin typeface="Times New Roman"/>
                <a:ea typeface="Times New Roman"/>
                <a:cs typeface="Times New Roman"/>
                <a:sym typeface="Times New Roman"/>
              </a:rPr>
              <a:t> Express.js.</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Language:</a:t>
            </a:r>
            <a:r>
              <a:rPr lang="en-US" sz="3799">
                <a:solidFill>
                  <a:srgbClr val="000000"/>
                </a:solidFill>
                <a:latin typeface="Times New Roman"/>
                <a:ea typeface="Times New Roman"/>
                <a:cs typeface="Times New Roman"/>
                <a:sym typeface="Times New Roman"/>
              </a:rPr>
              <a:t> TypeScript, Python.</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API Architecture:</a:t>
            </a:r>
            <a:r>
              <a:rPr lang="en-US" sz="3799">
                <a:solidFill>
                  <a:srgbClr val="000000"/>
                </a:solidFill>
                <a:latin typeface="Times New Roman"/>
                <a:ea typeface="Times New Roman"/>
                <a:cs typeface="Times New Roman"/>
                <a:sym typeface="Times New Roman"/>
              </a:rPr>
              <a:t> RESTful API structure.</a:t>
            </a:r>
          </a:p>
        </p:txBody>
      </p:sp>
      <p:sp>
        <p:nvSpPr>
          <p:cNvPr id="4" name="Freeform 4"/>
          <p:cNvSpPr/>
          <p:nvPr/>
        </p:nvSpPr>
        <p:spPr>
          <a:xfrm>
            <a:off x="0" y="213360"/>
            <a:ext cx="1200475" cy="892717"/>
          </a:xfrm>
          <a:custGeom>
            <a:avLst/>
            <a:gdLst/>
            <a:ahLst/>
            <a:cxnLst/>
            <a:rect l="l" t="t" r="r" b="b"/>
            <a:pathLst>
              <a:path w="1200475" h="892717">
                <a:moveTo>
                  <a:pt x="0" y="0"/>
                </a:moveTo>
                <a:lnTo>
                  <a:pt x="1200475" y="0"/>
                </a:lnTo>
                <a:lnTo>
                  <a:pt x="1200475" y="892717"/>
                </a:lnTo>
                <a:lnTo>
                  <a:pt x="0" y="8927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10789630" y="1792619"/>
            <a:ext cx="6705658" cy="4447630"/>
          </a:xfrm>
          <a:custGeom>
            <a:avLst/>
            <a:gdLst/>
            <a:ahLst/>
            <a:cxnLst/>
            <a:rect l="l" t="t" r="r" b="b"/>
            <a:pathLst>
              <a:path w="6705658" h="4447630">
                <a:moveTo>
                  <a:pt x="0" y="0"/>
                </a:moveTo>
                <a:lnTo>
                  <a:pt x="6705658" y="0"/>
                </a:lnTo>
                <a:lnTo>
                  <a:pt x="6705658" y="4447630"/>
                </a:lnTo>
                <a:lnTo>
                  <a:pt x="0" y="4447630"/>
                </a:lnTo>
                <a:lnTo>
                  <a:pt x="0" y="0"/>
                </a:lnTo>
                <a:close/>
              </a:path>
            </a:pathLst>
          </a:custGeom>
          <a:blipFill>
            <a:blip r:embed="rId6"/>
            <a:stretch>
              <a:fillRect/>
            </a:stretch>
          </a:blipFill>
        </p:spPr>
        <p:txBody>
          <a:bodyPr/>
          <a:lstStyle/>
          <a:p>
            <a:endParaRPr lang="en-IN"/>
          </a:p>
        </p:txBody>
      </p:sp>
      <p:sp>
        <p:nvSpPr>
          <p:cNvPr id="6" name="TextBox 6"/>
          <p:cNvSpPr txBox="1"/>
          <p:nvPr/>
        </p:nvSpPr>
        <p:spPr>
          <a:xfrm>
            <a:off x="6299231" y="185962"/>
            <a:ext cx="5689539"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PROJECT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622273"/>
            <a:ext cx="18541994" cy="8844974"/>
          </a:xfrm>
          <a:custGeom>
            <a:avLst/>
            <a:gdLst/>
            <a:ahLst/>
            <a:cxnLst/>
            <a:rect l="l" t="t" r="r" b="b"/>
            <a:pathLst>
              <a:path w="18541994" h="8844974">
                <a:moveTo>
                  <a:pt x="0" y="0"/>
                </a:moveTo>
                <a:lnTo>
                  <a:pt x="18541994" y="0"/>
                </a:lnTo>
                <a:lnTo>
                  <a:pt x="18541994" y="8844974"/>
                </a:lnTo>
                <a:lnTo>
                  <a:pt x="0" y="8844974"/>
                </a:lnTo>
                <a:lnTo>
                  <a:pt x="0" y="0"/>
                </a:lnTo>
                <a:close/>
              </a:path>
            </a:pathLst>
          </a:custGeom>
          <a:blipFill>
            <a:blip r:embed="rId2">
              <a:extLst>
                <a:ext uri="{96DAC541-7B7A-43D3-8B79-37D633B846F1}">
                  <asvg:svgBlip xmlns:asvg="http://schemas.microsoft.com/office/drawing/2016/SVG/main" r:embed="rId3"/>
                </a:ext>
              </a:extLst>
            </a:blip>
            <a:stretch>
              <a:fillRect t="-14961"/>
            </a:stretch>
          </a:blipFill>
        </p:spPr>
        <p:txBody>
          <a:bodyPr/>
          <a:lstStyle/>
          <a:p>
            <a:endParaRPr lang="en-IN"/>
          </a:p>
        </p:txBody>
      </p:sp>
      <p:sp>
        <p:nvSpPr>
          <p:cNvPr id="3" name="TextBox 3"/>
          <p:cNvSpPr txBox="1"/>
          <p:nvPr/>
        </p:nvSpPr>
        <p:spPr>
          <a:xfrm>
            <a:off x="1028700" y="1419860"/>
            <a:ext cx="15729745" cy="7342505"/>
          </a:xfrm>
          <a:prstGeom prst="rect">
            <a:avLst/>
          </a:prstGeom>
        </p:spPr>
        <p:txBody>
          <a:bodyPr lIns="0" tIns="0" rIns="0" bIns="0" rtlCol="0" anchor="t">
            <a:spAutoFit/>
          </a:bodyPr>
          <a:lstStyle/>
          <a:p>
            <a:pPr algn="l">
              <a:lnSpc>
                <a:spcPts val="5319"/>
              </a:lnSpc>
            </a:pPr>
            <a:r>
              <a:rPr lang="en-US" sz="3799" b="1">
                <a:solidFill>
                  <a:srgbClr val="000000"/>
                </a:solidFill>
                <a:latin typeface="Times New Roman Bold"/>
                <a:ea typeface="Times New Roman Bold"/>
                <a:cs typeface="Times New Roman Bold"/>
                <a:sym typeface="Times New Roman Bold"/>
              </a:rPr>
              <a:t>Database</a:t>
            </a:r>
            <a:r>
              <a:rPr lang="en-US" sz="3799">
                <a:solidFill>
                  <a:srgbClr val="000000"/>
                </a:solidFill>
                <a:latin typeface="Times New Roman"/>
                <a:ea typeface="Times New Roman"/>
                <a:cs typeface="Times New Roman"/>
                <a:sym typeface="Times New Roman"/>
              </a:rPr>
              <a:t>: MongoDB </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Stores patient data, reports and summaries.</a:t>
            </a:r>
          </a:p>
          <a:p>
            <a:pPr algn="l">
              <a:lnSpc>
                <a:spcPts val="5319"/>
              </a:lnSpc>
            </a:pPr>
            <a:r>
              <a:rPr lang="en-US" sz="3799" b="1">
                <a:solidFill>
                  <a:srgbClr val="000000"/>
                </a:solidFill>
                <a:latin typeface="Times New Roman Bold"/>
                <a:ea typeface="Times New Roman Bold"/>
                <a:cs typeface="Times New Roman Bold"/>
                <a:sym typeface="Times New Roman Bold"/>
              </a:rPr>
              <a:t>AI Components: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MedCAT → Medical history summarization.</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Tesseract OCR → Extract medical text from reports.</a:t>
            </a:r>
          </a:p>
          <a:p>
            <a:pPr algn="l">
              <a:lnSpc>
                <a:spcPts val="5319"/>
              </a:lnSpc>
            </a:pPr>
            <a:r>
              <a:rPr lang="en-US" sz="3799" b="1">
                <a:solidFill>
                  <a:srgbClr val="000000"/>
                </a:solidFill>
                <a:latin typeface="Times New Roman Bold"/>
                <a:ea typeface="Times New Roman Bold"/>
                <a:cs typeface="Times New Roman Bold"/>
                <a:sym typeface="Times New Roman Bold"/>
              </a:rPr>
              <a:t>Hardware Requirements: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Camera-enabled devices.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Smartphones, Tablets.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Hospital systems.</a:t>
            </a:r>
          </a:p>
          <a:p>
            <a:pPr algn="l">
              <a:lnSpc>
                <a:spcPts val="5319"/>
              </a:lnSpc>
            </a:pPr>
            <a:r>
              <a:rPr lang="en-US" sz="3799" b="1">
                <a:solidFill>
                  <a:srgbClr val="000000"/>
                </a:solidFill>
                <a:latin typeface="Times New Roman Bold"/>
                <a:ea typeface="Times New Roman Bold"/>
                <a:cs typeface="Times New Roman Bold"/>
                <a:sym typeface="Times New Roman Bold"/>
              </a:rPr>
              <a:t>Additional Tools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Git/GitHub for version control.</a:t>
            </a:r>
          </a:p>
        </p:txBody>
      </p:sp>
      <p:sp>
        <p:nvSpPr>
          <p:cNvPr id="4" name="Freeform 4"/>
          <p:cNvSpPr/>
          <p:nvPr/>
        </p:nvSpPr>
        <p:spPr>
          <a:xfrm>
            <a:off x="0" y="98234"/>
            <a:ext cx="1251237" cy="930466"/>
          </a:xfrm>
          <a:custGeom>
            <a:avLst/>
            <a:gdLst/>
            <a:ahLst/>
            <a:cxnLst/>
            <a:rect l="l" t="t" r="r" b="b"/>
            <a:pathLst>
              <a:path w="1251237" h="930466">
                <a:moveTo>
                  <a:pt x="0" y="0"/>
                </a:moveTo>
                <a:lnTo>
                  <a:pt x="1251237" y="0"/>
                </a:lnTo>
                <a:lnTo>
                  <a:pt x="1251237" y="930466"/>
                </a:lnTo>
                <a:lnTo>
                  <a:pt x="0" y="9304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12747578" y="1622273"/>
            <a:ext cx="4345558" cy="4189430"/>
          </a:xfrm>
          <a:custGeom>
            <a:avLst/>
            <a:gdLst/>
            <a:ahLst/>
            <a:cxnLst/>
            <a:rect l="l" t="t" r="r" b="b"/>
            <a:pathLst>
              <a:path w="4345558" h="4189430">
                <a:moveTo>
                  <a:pt x="0" y="0"/>
                </a:moveTo>
                <a:lnTo>
                  <a:pt x="4345558" y="0"/>
                </a:lnTo>
                <a:lnTo>
                  <a:pt x="4345558" y="4189431"/>
                </a:lnTo>
                <a:lnTo>
                  <a:pt x="0" y="4189431"/>
                </a:lnTo>
                <a:lnTo>
                  <a:pt x="0" y="0"/>
                </a:lnTo>
                <a:close/>
              </a:path>
            </a:pathLst>
          </a:custGeom>
          <a:blipFill>
            <a:blip r:embed="rId6"/>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7711973"/>
            <a:ext cx="18541994" cy="2733656"/>
          </a:xfrm>
          <a:custGeom>
            <a:avLst/>
            <a:gdLst/>
            <a:ahLst/>
            <a:cxnLst/>
            <a:rect l="l" t="t" r="r" b="b"/>
            <a:pathLst>
              <a:path w="18541994" h="2733656">
                <a:moveTo>
                  <a:pt x="0" y="0"/>
                </a:moveTo>
                <a:lnTo>
                  <a:pt x="18541994" y="0"/>
                </a:lnTo>
                <a:lnTo>
                  <a:pt x="18541994"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7341" y="139157"/>
            <a:ext cx="1282000" cy="953342"/>
          </a:xfrm>
          <a:custGeom>
            <a:avLst/>
            <a:gdLst/>
            <a:ahLst/>
            <a:cxnLst/>
            <a:rect l="l" t="t" r="r" b="b"/>
            <a:pathLst>
              <a:path w="1282000" h="953342">
                <a:moveTo>
                  <a:pt x="0" y="0"/>
                </a:moveTo>
                <a:lnTo>
                  <a:pt x="1282000" y="0"/>
                </a:lnTo>
                <a:lnTo>
                  <a:pt x="1282000" y="953342"/>
                </a:lnTo>
                <a:lnTo>
                  <a:pt x="0" y="9533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5989375" y="172384"/>
            <a:ext cx="5339164"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METHODOLOGY</a:t>
            </a:r>
          </a:p>
        </p:txBody>
      </p:sp>
      <p:sp>
        <p:nvSpPr>
          <p:cNvPr id="6" name="TextBox 6"/>
          <p:cNvSpPr txBox="1"/>
          <p:nvPr/>
        </p:nvSpPr>
        <p:spPr>
          <a:xfrm>
            <a:off x="647928" y="2171700"/>
            <a:ext cx="13753872" cy="4436279"/>
          </a:xfrm>
          <a:prstGeom prst="rect">
            <a:avLst/>
          </a:prstGeom>
        </p:spPr>
        <p:txBody>
          <a:bodyPr wrap="square" lIns="0" tIns="0" rIns="0" bIns="0" rtlCol="0" anchor="t">
            <a:spAutoFit/>
          </a:bodyPr>
          <a:lstStyle/>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Role-based login for Doctors, Patients, and Hospitals.</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Patient records fetched via ID/phone number/name.</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Hospitals update and maintain medical records securely.</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Doctors trigger AI summarization for clinical briefs.</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Patients view reports and summarized data from their dashboard.</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Authorized users can download complete or summarized reports.</a:t>
            </a:r>
          </a:p>
          <a:p>
            <a:pPr algn="just">
              <a:lnSpc>
                <a:spcPts val="5040"/>
              </a:lnSpc>
            </a:pPr>
            <a:endParaRPr lang="en-US"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622273"/>
            <a:ext cx="18541994" cy="8844974"/>
          </a:xfrm>
          <a:custGeom>
            <a:avLst/>
            <a:gdLst/>
            <a:ahLst/>
            <a:cxnLst/>
            <a:rect l="l" t="t" r="r" b="b"/>
            <a:pathLst>
              <a:path w="18541994" h="8844974">
                <a:moveTo>
                  <a:pt x="0" y="0"/>
                </a:moveTo>
                <a:lnTo>
                  <a:pt x="18541994" y="0"/>
                </a:lnTo>
                <a:lnTo>
                  <a:pt x="18541994" y="8844974"/>
                </a:lnTo>
                <a:lnTo>
                  <a:pt x="0" y="8844974"/>
                </a:lnTo>
                <a:lnTo>
                  <a:pt x="0" y="0"/>
                </a:lnTo>
                <a:close/>
              </a:path>
            </a:pathLst>
          </a:custGeom>
          <a:blipFill>
            <a:blip r:embed="rId2">
              <a:extLst>
                <a:ext uri="{96DAC541-7B7A-43D3-8B79-37D633B846F1}">
                  <asvg:svgBlip xmlns:asvg="http://schemas.microsoft.com/office/drawing/2016/SVG/main" r:embed="rId3"/>
                </a:ext>
              </a:extLst>
            </a:blip>
            <a:stretch>
              <a:fillRect t="-14961"/>
            </a:stretch>
          </a:blipFill>
        </p:spPr>
        <p:txBody>
          <a:bodyPr/>
          <a:lstStyle/>
          <a:p>
            <a:endParaRPr lang="en-IN"/>
          </a:p>
        </p:txBody>
      </p:sp>
      <p:sp>
        <p:nvSpPr>
          <p:cNvPr id="3" name="Freeform 3"/>
          <p:cNvSpPr/>
          <p:nvPr/>
        </p:nvSpPr>
        <p:spPr>
          <a:xfrm>
            <a:off x="1028700" y="1028700"/>
            <a:ext cx="16230600" cy="8148744"/>
          </a:xfrm>
          <a:custGeom>
            <a:avLst/>
            <a:gdLst/>
            <a:ahLst/>
            <a:cxnLst/>
            <a:rect l="l" t="t" r="r" b="b"/>
            <a:pathLst>
              <a:path w="16230600" h="8148744">
                <a:moveTo>
                  <a:pt x="0" y="0"/>
                </a:moveTo>
                <a:lnTo>
                  <a:pt x="16230600" y="0"/>
                </a:lnTo>
                <a:lnTo>
                  <a:pt x="16230600" y="8148744"/>
                </a:lnTo>
                <a:lnTo>
                  <a:pt x="0" y="8148744"/>
                </a:lnTo>
                <a:lnTo>
                  <a:pt x="0" y="0"/>
                </a:lnTo>
                <a:close/>
              </a:path>
            </a:pathLst>
          </a:custGeom>
          <a:blipFill>
            <a:blip r:embed="rId4"/>
            <a:stretch>
              <a:fillRect t="-5363" b="-11155"/>
            </a:stretch>
          </a:blipFill>
        </p:spPr>
        <p:txBody>
          <a:bodyPr/>
          <a:lstStyle/>
          <a:p>
            <a:endParaRPr lang="en-IN"/>
          </a:p>
        </p:txBody>
      </p:sp>
      <p:sp>
        <p:nvSpPr>
          <p:cNvPr id="4" name="Freeform 4"/>
          <p:cNvSpPr/>
          <p:nvPr/>
        </p:nvSpPr>
        <p:spPr>
          <a:xfrm>
            <a:off x="0" y="108479"/>
            <a:ext cx="1237461" cy="920221"/>
          </a:xfrm>
          <a:custGeom>
            <a:avLst/>
            <a:gdLst/>
            <a:ahLst/>
            <a:cxnLst/>
            <a:rect l="l" t="t" r="r" b="b"/>
            <a:pathLst>
              <a:path w="1237461" h="920221">
                <a:moveTo>
                  <a:pt x="0" y="0"/>
                </a:moveTo>
                <a:lnTo>
                  <a:pt x="1237461" y="0"/>
                </a:lnTo>
                <a:lnTo>
                  <a:pt x="1237461" y="920221"/>
                </a:lnTo>
                <a:lnTo>
                  <a:pt x="0" y="9202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7711973"/>
            <a:ext cx="18541994" cy="2733656"/>
          </a:xfrm>
          <a:custGeom>
            <a:avLst/>
            <a:gdLst/>
            <a:ahLst/>
            <a:cxnLst/>
            <a:rect l="l" t="t" r="r" b="b"/>
            <a:pathLst>
              <a:path w="18541994" h="2733656">
                <a:moveTo>
                  <a:pt x="0" y="0"/>
                </a:moveTo>
                <a:lnTo>
                  <a:pt x="18541994" y="0"/>
                </a:lnTo>
                <a:lnTo>
                  <a:pt x="18541994"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248401" cy="928356"/>
          </a:xfrm>
          <a:custGeom>
            <a:avLst/>
            <a:gdLst/>
            <a:ahLst/>
            <a:cxnLst/>
            <a:rect l="l" t="t" r="r" b="b"/>
            <a:pathLst>
              <a:path w="1248401" h="928356">
                <a:moveTo>
                  <a:pt x="0" y="0"/>
                </a:moveTo>
                <a:lnTo>
                  <a:pt x="1248401" y="0"/>
                </a:lnTo>
                <a:lnTo>
                  <a:pt x="1248401" y="928356"/>
                </a:lnTo>
                <a:lnTo>
                  <a:pt x="0" y="9283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5450596" y="348169"/>
            <a:ext cx="7386807"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 IMPLEMENTATION</a:t>
            </a:r>
          </a:p>
        </p:txBody>
      </p:sp>
      <p:sp>
        <p:nvSpPr>
          <p:cNvPr id="6" name="TextBox 6"/>
          <p:cNvSpPr txBox="1"/>
          <p:nvPr/>
        </p:nvSpPr>
        <p:spPr>
          <a:xfrm>
            <a:off x="1028700" y="1629454"/>
            <a:ext cx="12763500" cy="5128776"/>
          </a:xfrm>
          <a:prstGeom prst="rect">
            <a:avLst/>
          </a:prstGeom>
        </p:spPr>
        <p:txBody>
          <a:bodyPr wrap="square" lIns="0" tIns="0" rIns="0" bIns="0" rtlCol="0" anchor="t">
            <a:spAutoFit/>
          </a:bodyPr>
          <a:lstStyle/>
          <a:p>
            <a:pPr algn="just">
              <a:lnSpc>
                <a:spcPts val="5760"/>
              </a:lnSpc>
            </a:pPr>
            <a:endParaRPr dirty="0"/>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Web interface for doctors, patients and hospital authorities.</a:t>
            </a:r>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Frontend communicates with backend securely via API.</a:t>
            </a:r>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AI modules integrated for summarization.</a:t>
            </a:r>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Patient details stored in MongoDB.</a:t>
            </a:r>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Mobile app for quick access.</a:t>
            </a:r>
          </a:p>
          <a:p>
            <a:pPr algn="just">
              <a:lnSpc>
                <a:spcPts val="5760"/>
              </a:lnSpc>
            </a:pPr>
            <a:endParaRPr lang="en-US"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50596" y="516255"/>
            <a:ext cx="7386807"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CHALLENGES FACED</a:t>
            </a:r>
          </a:p>
        </p:txBody>
      </p:sp>
      <p:sp>
        <p:nvSpPr>
          <p:cNvPr id="3" name="Freeform 3"/>
          <p:cNvSpPr/>
          <p:nvPr/>
        </p:nvSpPr>
        <p:spPr>
          <a:xfrm>
            <a:off x="-126997" y="7711973"/>
            <a:ext cx="18541994" cy="2733656"/>
          </a:xfrm>
          <a:custGeom>
            <a:avLst/>
            <a:gdLst/>
            <a:ahLst/>
            <a:cxnLst/>
            <a:rect l="l" t="t" r="r" b="b"/>
            <a:pathLst>
              <a:path w="18541994" h="2733656">
                <a:moveTo>
                  <a:pt x="0" y="0"/>
                </a:moveTo>
                <a:lnTo>
                  <a:pt x="18541994" y="0"/>
                </a:lnTo>
                <a:lnTo>
                  <a:pt x="18541994"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1028700" y="1490978"/>
            <a:ext cx="16230600" cy="4384983"/>
          </a:xfrm>
          <a:prstGeom prst="rect">
            <a:avLst/>
          </a:prstGeom>
        </p:spPr>
        <p:txBody>
          <a:bodyPr lIns="0" tIns="0" rIns="0" bIns="0" rtlCol="0" anchor="t">
            <a:spAutoFit/>
          </a:bodyPr>
          <a:lstStyle/>
          <a:p>
            <a:pPr algn="just">
              <a:lnSpc>
                <a:spcPts val="5760"/>
              </a:lnSpc>
            </a:pPr>
            <a:endParaRPr dirty="0"/>
          </a:p>
          <a:p>
            <a:pPr marL="742950" indent="-742950" algn="just">
              <a:lnSpc>
                <a:spcPts val="5760"/>
              </a:lnSpc>
              <a:buFont typeface="+mj-lt"/>
              <a:buAutoNum type="arabicPeriod"/>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Ensuring real-time access across web and mobile platforms.</a:t>
            </a: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742950" indent="-742950" algn="just">
              <a:lnSpc>
                <a:spcPts val="5760"/>
              </a:lnSpc>
              <a:buFont typeface="+mj-lt"/>
              <a:buAutoNum type="arabicPeriod"/>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Integrating multiple AI modules while ensuring fast, accurate medical summaries.</a:t>
            </a:r>
            <a:endPar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a:endParaRPr>
          </a:p>
          <a:p>
            <a:pPr marL="742950" indent="-742950" algn="just">
              <a:lnSpc>
                <a:spcPts val="5760"/>
              </a:lnSpc>
              <a:buFont typeface="+mj-lt"/>
              <a:buAutoNum type="arabicPeriod"/>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Ensuring end-to-end security for sensitive patient data across frontend and backend.</a:t>
            </a:r>
          </a:p>
          <a:p>
            <a:pPr marL="742950" indent="-742950" algn="just">
              <a:lnSpc>
                <a:spcPts val="5760"/>
              </a:lnSpc>
              <a:buFont typeface="+mj-lt"/>
              <a:buAutoNum type="arabicPeriod"/>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Converting the web platform into a functional mobile app without rebuilding the entire codebase.</a:t>
            </a:r>
          </a:p>
        </p:txBody>
      </p:sp>
      <p:sp>
        <p:nvSpPr>
          <p:cNvPr id="5" name="Freeform 5"/>
          <p:cNvSpPr/>
          <p:nvPr/>
        </p:nvSpPr>
        <p:spPr>
          <a:xfrm>
            <a:off x="131436" y="339928"/>
            <a:ext cx="1303967" cy="969677"/>
          </a:xfrm>
          <a:custGeom>
            <a:avLst/>
            <a:gdLst/>
            <a:ahLst/>
            <a:cxnLst/>
            <a:rect l="l" t="t" r="r" b="b"/>
            <a:pathLst>
              <a:path w="1303967" h="969677">
                <a:moveTo>
                  <a:pt x="0" y="0"/>
                </a:moveTo>
                <a:lnTo>
                  <a:pt x="1303967" y="0"/>
                </a:lnTo>
                <a:lnTo>
                  <a:pt x="1303967" y="969677"/>
                </a:lnTo>
                <a:lnTo>
                  <a:pt x="0" y="9696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277917" cy="950305"/>
          </a:xfrm>
          <a:custGeom>
            <a:avLst/>
            <a:gdLst/>
            <a:ahLst/>
            <a:cxnLst/>
            <a:rect l="l" t="t" r="r" b="b"/>
            <a:pathLst>
              <a:path w="1277917" h="950305">
                <a:moveTo>
                  <a:pt x="0" y="0"/>
                </a:moveTo>
                <a:lnTo>
                  <a:pt x="1277917" y="0"/>
                </a:lnTo>
                <a:lnTo>
                  <a:pt x="1277917" y="950306"/>
                </a:lnTo>
                <a:lnTo>
                  <a:pt x="0" y="9503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2360744" y="2097954"/>
            <a:ext cx="14079240" cy="6951625"/>
          </a:xfrm>
          <a:custGeom>
            <a:avLst/>
            <a:gdLst/>
            <a:ahLst/>
            <a:cxnLst/>
            <a:rect l="l" t="t" r="r" b="b"/>
            <a:pathLst>
              <a:path w="14079240" h="6951625">
                <a:moveTo>
                  <a:pt x="0" y="0"/>
                </a:moveTo>
                <a:lnTo>
                  <a:pt x="14079240" y="0"/>
                </a:lnTo>
                <a:lnTo>
                  <a:pt x="14079240" y="6951624"/>
                </a:lnTo>
                <a:lnTo>
                  <a:pt x="0" y="6951624"/>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2360744" y="1128309"/>
            <a:ext cx="15149620"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Role-based login/register for Doctors, Patients, and Hospitals.</a:t>
            </a:r>
          </a:p>
        </p:txBody>
      </p:sp>
      <p:sp>
        <p:nvSpPr>
          <p:cNvPr id="6" name="TextBox 6"/>
          <p:cNvSpPr txBox="1"/>
          <p:nvPr/>
        </p:nvSpPr>
        <p:spPr>
          <a:xfrm>
            <a:off x="7899232" y="108585"/>
            <a:ext cx="3002265"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300241" cy="966906"/>
          </a:xfrm>
          <a:custGeom>
            <a:avLst/>
            <a:gdLst/>
            <a:ahLst/>
            <a:cxnLst/>
            <a:rect l="l" t="t" r="r" b="b"/>
            <a:pathLst>
              <a:path w="1300241" h="966906">
                <a:moveTo>
                  <a:pt x="0" y="0"/>
                </a:moveTo>
                <a:lnTo>
                  <a:pt x="1300241" y="0"/>
                </a:lnTo>
                <a:lnTo>
                  <a:pt x="1300241" y="966907"/>
                </a:lnTo>
                <a:lnTo>
                  <a:pt x="0" y="9669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2394274" y="2069852"/>
            <a:ext cx="13499433" cy="7188448"/>
          </a:xfrm>
          <a:custGeom>
            <a:avLst/>
            <a:gdLst/>
            <a:ahLst/>
            <a:cxnLst/>
            <a:rect l="l" t="t" r="r" b="b"/>
            <a:pathLst>
              <a:path w="13499433" h="7188448">
                <a:moveTo>
                  <a:pt x="0" y="0"/>
                </a:moveTo>
                <a:lnTo>
                  <a:pt x="13499433" y="0"/>
                </a:lnTo>
                <a:lnTo>
                  <a:pt x="13499433" y="7188448"/>
                </a:lnTo>
                <a:lnTo>
                  <a:pt x="0" y="7188448"/>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7899232" y="154305"/>
            <a:ext cx="3354779"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
        <p:nvSpPr>
          <p:cNvPr id="6" name="TextBox 6"/>
          <p:cNvSpPr txBox="1"/>
          <p:nvPr/>
        </p:nvSpPr>
        <p:spPr>
          <a:xfrm>
            <a:off x="2394274" y="1139701"/>
            <a:ext cx="15149620"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Doctor can view the patient health history.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84586" y="268611"/>
            <a:ext cx="1288229" cy="957974"/>
          </a:xfrm>
          <a:custGeom>
            <a:avLst/>
            <a:gdLst/>
            <a:ahLst/>
            <a:cxnLst/>
            <a:rect l="l" t="t" r="r" b="b"/>
            <a:pathLst>
              <a:path w="1288229" h="957974">
                <a:moveTo>
                  <a:pt x="0" y="0"/>
                </a:moveTo>
                <a:lnTo>
                  <a:pt x="1288228" y="0"/>
                </a:lnTo>
                <a:lnTo>
                  <a:pt x="1288228" y="957974"/>
                </a:lnTo>
                <a:lnTo>
                  <a:pt x="0" y="9579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2255547" y="2025425"/>
            <a:ext cx="13776905" cy="7232875"/>
          </a:xfrm>
          <a:custGeom>
            <a:avLst/>
            <a:gdLst/>
            <a:ahLst/>
            <a:cxnLst/>
            <a:rect l="l" t="t" r="r" b="b"/>
            <a:pathLst>
              <a:path w="13776905" h="7232875">
                <a:moveTo>
                  <a:pt x="0" y="0"/>
                </a:moveTo>
                <a:lnTo>
                  <a:pt x="13776906" y="0"/>
                </a:lnTo>
                <a:lnTo>
                  <a:pt x="13776906" y="7232875"/>
                </a:lnTo>
                <a:lnTo>
                  <a:pt x="0" y="7232875"/>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2255547" y="1064660"/>
            <a:ext cx="15149620"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Doctors can summarize the whole health record and download it.</a:t>
            </a:r>
          </a:p>
        </p:txBody>
      </p:sp>
      <p:sp>
        <p:nvSpPr>
          <p:cNvPr id="6" name="TextBox 6"/>
          <p:cNvSpPr txBox="1"/>
          <p:nvPr/>
        </p:nvSpPr>
        <p:spPr>
          <a:xfrm>
            <a:off x="7899241" y="163836"/>
            <a:ext cx="3290686"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437745" cy="1069159"/>
          </a:xfrm>
          <a:custGeom>
            <a:avLst/>
            <a:gdLst/>
            <a:ahLst/>
            <a:cxnLst/>
            <a:rect l="l" t="t" r="r" b="b"/>
            <a:pathLst>
              <a:path w="1437745" h="1069159">
                <a:moveTo>
                  <a:pt x="0" y="0"/>
                </a:moveTo>
                <a:lnTo>
                  <a:pt x="1437745" y="0"/>
                </a:lnTo>
                <a:lnTo>
                  <a:pt x="1437745" y="1069159"/>
                </a:lnTo>
                <a:lnTo>
                  <a:pt x="0" y="10691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1899999" y="2040779"/>
            <a:ext cx="14488001" cy="7217521"/>
          </a:xfrm>
          <a:custGeom>
            <a:avLst/>
            <a:gdLst/>
            <a:ahLst/>
            <a:cxnLst/>
            <a:rect l="l" t="t" r="r" b="b"/>
            <a:pathLst>
              <a:path w="14488001" h="7217521">
                <a:moveTo>
                  <a:pt x="0" y="0"/>
                </a:moveTo>
                <a:lnTo>
                  <a:pt x="14488002" y="0"/>
                </a:lnTo>
                <a:lnTo>
                  <a:pt x="14488002" y="7217521"/>
                </a:lnTo>
                <a:lnTo>
                  <a:pt x="0" y="7217521"/>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1841587" y="1102304"/>
            <a:ext cx="15149620"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Hospital authority can view/upload the patient health history.</a:t>
            </a:r>
          </a:p>
        </p:txBody>
      </p:sp>
      <p:sp>
        <p:nvSpPr>
          <p:cNvPr id="6" name="TextBox 6"/>
          <p:cNvSpPr txBox="1"/>
          <p:nvPr/>
        </p:nvSpPr>
        <p:spPr>
          <a:xfrm>
            <a:off x="7899241" y="108585"/>
            <a:ext cx="3034312"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8266" y="213360"/>
            <a:ext cx="1340867" cy="997118"/>
          </a:xfrm>
          <a:custGeom>
            <a:avLst/>
            <a:gdLst/>
            <a:ahLst/>
            <a:cxnLst/>
            <a:rect l="l" t="t" r="r" b="b"/>
            <a:pathLst>
              <a:path w="1340867" h="997118">
                <a:moveTo>
                  <a:pt x="0" y="0"/>
                </a:moveTo>
                <a:lnTo>
                  <a:pt x="1340868" y="0"/>
                </a:lnTo>
                <a:lnTo>
                  <a:pt x="1340868" y="997118"/>
                </a:lnTo>
                <a:lnTo>
                  <a:pt x="0" y="9971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2209465" y="2153138"/>
            <a:ext cx="14317706" cy="7105162"/>
          </a:xfrm>
          <a:custGeom>
            <a:avLst/>
            <a:gdLst/>
            <a:ahLst/>
            <a:cxnLst/>
            <a:rect l="l" t="t" r="r" b="b"/>
            <a:pathLst>
              <a:path w="14317706" h="7105162">
                <a:moveTo>
                  <a:pt x="0" y="0"/>
                </a:moveTo>
                <a:lnTo>
                  <a:pt x="14317706" y="0"/>
                </a:lnTo>
                <a:lnTo>
                  <a:pt x="14317706" y="7105162"/>
                </a:lnTo>
                <a:lnTo>
                  <a:pt x="0" y="7105162"/>
                </a:lnTo>
                <a:lnTo>
                  <a:pt x="0" y="0"/>
                </a:lnTo>
                <a:close/>
              </a:path>
            </a:pathLst>
          </a:custGeom>
          <a:blipFill>
            <a:blip r:embed="rId6"/>
            <a:stretch>
              <a:fillRect/>
            </a:stretch>
          </a:blipFill>
        </p:spPr>
        <p:txBody>
          <a:bodyPr/>
          <a:lstStyle/>
          <a:p>
            <a:endParaRPr lang="en-IN"/>
          </a:p>
        </p:txBody>
      </p:sp>
      <p:grpSp>
        <p:nvGrpSpPr>
          <p:cNvPr id="5" name="Group 5"/>
          <p:cNvGrpSpPr/>
          <p:nvPr/>
        </p:nvGrpSpPr>
        <p:grpSpPr>
          <a:xfrm>
            <a:off x="3046440" y="2596914"/>
            <a:ext cx="2078108" cy="345674"/>
            <a:chOff x="0" y="0"/>
            <a:chExt cx="547321" cy="91042"/>
          </a:xfrm>
        </p:grpSpPr>
        <p:sp>
          <p:nvSpPr>
            <p:cNvPr id="6" name="Freeform 6"/>
            <p:cNvSpPr/>
            <p:nvPr/>
          </p:nvSpPr>
          <p:spPr>
            <a:xfrm>
              <a:off x="0" y="0"/>
              <a:ext cx="547321" cy="91042"/>
            </a:xfrm>
            <a:custGeom>
              <a:avLst/>
              <a:gdLst/>
              <a:ahLst/>
              <a:cxnLst/>
              <a:rect l="l" t="t" r="r" b="b"/>
              <a:pathLst>
                <a:path w="547321" h="91042">
                  <a:moveTo>
                    <a:pt x="0" y="0"/>
                  </a:moveTo>
                  <a:lnTo>
                    <a:pt x="547321" y="0"/>
                  </a:lnTo>
                  <a:lnTo>
                    <a:pt x="547321" y="91042"/>
                  </a:lnTo>
                  <a:lnTo>
                    <a:pt x="0" y="91042"/>
                  </a:lnTo>
                  <a:close/>
                </a:path>
              </a:pathLst>
            </a:custGeom>
            <a:solidFill>
              <a:srgbClr val="F4FAF9"/>
            </a:solidFill>
          </p:spPr>
          <p:txBody>
            <a:bodyPr/>
            <a:lstStyle/>
            <a:p>
              <a:endParaRPr lang="en-IN"/>
            </a:p>
          </p:txBody>
        </p:sp>
        <p:sp>
          <p:nvSpPr>
            <p:cNvPr id="7" name="TextBox 7"/>
            <p:cNvSpPr txBox="1"/>
            <p:nvPr/>
          </p:nvSpPr>
          <p:spPr>
            <a:xfrm>
              <a:off x="0" y="-38100"/>
              <a:ext cx="547321" cy="129142"/>
            </a:xfrm>
            <a:prstGeom prst="rect">
              <a:avLst/>
            </a:prstGeom>
          </p:spPr>
          <p:txBody>
            <a:bodyPr lIns="50800" tIns="50800" rIns="50800" bIns="50800" rtlCol="0" anchor="ctr"/>
            <a:lstStyle/>
            <a:p>
              <a:pPr algn="ctr">
                <a:lnSpc>
                  <a:spcPts val="2799"/>
                </a:lnSpc>
                <a:spcBef>
                  <a:spcPct val="0"/>
                </a:spcBef>
              </a:pPr>
              <a:endParaRPr/>
            </a:p>
          </p:txBody>
        </p:sp>
      </p:grpSp>
      <p:sp>
        <p:nvSpPr>
          <p:cNvPr id="8" name="TextBox 8"/>
          <p:cNvSpPr txBox="1"/>
          <p:nvPr/>
        </p:nvSpPr>
        <p:spPr>
          <a:xfrm>
            <a:off x="1699134" y="1158484"/>
            <a:ext cx="15675479"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Patient can view, download the health records and update personal information.</a:t>
            </a:r>
          </a:p>
        </p:txBody>
      </p:sp>
      <p:sp>
        <p:nvSpPr>
          <p:cNvPr id="9" name="TextBox 9"/>
          <p:cNvSpPr txBox="1"/>
          <p:nvPr/>
        </p:nvSpPr>
        <p:spPr>
          <a:xfrm>
            <a:off x="7899232" y="108585"/>
            <a:ext cx="2938172"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22718" y="4528547"/>
            <a:ext cx="15015705" cy="1246499"/>
          </a:xfrm>
          <a:custGeom>
            <a:avLst/>
            <a:gdLst/>
            <a:ahLst/>
            <a:cxnLst/>
            <a:rect l="l" t="t" r="r" b="b"/>
            <a:pathLst>
              <a:path w="15015705" h="1246499">
                <a:moveTo>
                  <a:pt x="0" y="0"/>
                </a:moveTo>
                <a:lnTo>
                  <a:pt x="15015705" y="0"/>
                </a:lnTo>
                <a:lnTo>
                  <a:pt x="15015705" y="1246499"/>
                </a:lnTo>
                <a:lnTo>
                  <a:pt x="0" y="1246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TextBox 4"/>
          <p:cNvSpPr txBox="1"/>
          <p:nvPr/>
        </p:nvSpPr>
        <p:spPr>
          <a:xfrm>
            <a:off x="1028700" y="2593068"/>
            <a:ext cx="16230600" cy="2512676"/>
          </a:xfrm>
          <a:prstGeom prst="rect">
            <a:avLst/>
          </a:prstGeom>
        </p:spPr>
        <p:txBody>
          <a:bodyPr lIns="0" tIns="0" rIns="0" bIns="0" rtlCol="0" anchor="t">
            <a:spAutoFit/>
          </a:bodyPr>
          <a:lstStyle/>
          <a:p>
            <a:pPr marL="388625" lvl="1" algn="just">
              <a:lnSpc>
                <a:spcPts val="5040"/>
              </a:lnSpc>
            </a:pPr>
            <a:r>
              <a:rPr lang="en-US" sz="3600" dirty="0">
                <a:latin typeface="Times New Roman" panose="02020603050405020304" pitchFamily="18" charset="0"/>
                <a:cs typeface="Times New Roman" panose="02020603050405020304" pitchFamily="18" charset="0"/>
              </a:rPr>
              <a:t>	</a:t>
            </a:r>
            <a:r>
              <a:rPr lang="en-US" sz="3600" dirty="0" err="1">
                <a:solidFill>
                  <a:srgbClr val="000000"/>
                </a:solidFill>
                <a:latin typeface="Times New Roman"/>
                <a:ea typeface="Times New Roman"/>
                <a:cs typeface="Times New Roman"/>
                <a:sym typeface="Times New Roman"/>
              </a:rPr>
              <a:t>MediScan</a:t>
            </a:r>
            <a:r>
              <a:rPr lang="en-US" sz="3600" dirty="0">
                <a:solidFill>
                  <a:srgbClr val="000000"/>
                </a:solidFill>
                <a:latin typeface="Times New Roman"/>
                <a:ea typeface="Times New Roman"/>
                <a:cs typeface="Times New Roman"/>
                <a:sym typeface="Times New Roman"/>
              </a:rPr>
              <a:t> AI streamlines emergency care by providing doctors with immediate access to reliable patient information. Its AI-powered features reduce risks, save time, and improve overall treatment accuracy. The system proves how technology can transform patient safety and hospital workflow.</a:t>
            </a:r>
          </a:p>
        </p:txBody>
      </p:sp>
      <p:sp>
        <p:nvSpPr>
          <p:cNvPr id="5" name="TextBox 5"/>
          <p:cNvSpPr txBox="1"/>
          <p:nvPr/>
        </p:nvSpPr>
        <p:spPr>
          <a:xfrm>
            <a:off x="7278242" y="783374"/>
            <a:ext cx="4276310"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CONCLUSION</a:t>
            </a:r>
          </a:p>
        </p:txBody>
      </p:sp>
      <p:sp>
        <p:nvSpPr>
          <p:cNvPr id="6" name="Freeform 6"/>
          <p:cNvSpPr/>
          <p:nvPr/>
        </p:nvSpPr>
        <p:spPr>
          <a:xfrm>
            <a:off x="131436" y="339928"/>
            <a:ext cx="1474433" cy="1096442"/>
          </a:xfrm>
          <a:custGeom>
            <a:avLst/>
            <a:gdLst/>
            <a:ahLst/>
            <a:cxnLst/>
            <a:rect l="l" t="t" r="r" b="b"/>
            <a:pathLst>
              <a:path w="1474433" h="1096442">
                <a:moveTo>
                  <a:pt x="0" y="0"/>
                </a:moveTo>
                <a:lnTo>
                  <a:pt x="1474433" y="0"/>
                </a:lnTo>
                <a:lnTo>
                  <a:pt x="1474433" y="1096442"/>
                </a:lnTo>
                <a:lnTo>
                  <a:pt x="0" y="109644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7177530" y="516255"/>
            <a:ext cx="5090670" cy="904094"/>
          </a:xfrm>
          <a:prstGeom prst="rect">
            <a:avLst/>
          </a:prstGeom>
        </p:spPr>
        <p:txBody>
          <a:bodyPr wrap="square" lIns="0" tIns="0" rIns="0" bIns="0" rtlCol="0" anchor="t">
            <a:spAutoFit/>
          </a:bodyPr>
          <a:lstStyle/>
          <a:p>
            <a:pPr algn="l">
              <a:lnSpc>
                <a:spcPts val="7559"/>
              </a:lnSpc>
            </a:pPr>
            <a:r>
              <a:rPr lang="en-US" sz="5400" b="1" u="sng" dirty="0">
                <a:solidFill>
                  <a:srgbClr val="2A3990"/>
                </a:solidFill>
                <a:latin typeface="Roboto Bold"/>
                <a:ea typeface="Roboto Bold"/>
                <a:cs typeface="Roboto Bold"/>
                <a:sym typeface="Roboto Bold"/>
              </a:rPr>
              <a:t>FUTURE WORK</a:t>
            </a:r>
          </a:p>
        </p:txBody>
      </p:sp>
      <p:sp>
        <p:nvSpPr>
          <p:cNvPr id="4" name="TextBox 4"/>
          <p:cNvSpPr txBox="1"/>
          <p:nvPr/>
        </p:nvSpPr>
        <p:spPr>
          <a:xfrm>
            <a:off x="1028700" y="2741888"/>
            <a:ext cx="16230600" cy="4404360"/>
          </a:xfrm>
          <a:prstGeom prst="rect">
            <a:avLst/>
          </a:prstGeom>
        </p:spPr>
        <p:txBody>
          <a:bodyPr lIns="0" tIns="0" rIns="0" bIns="0" rtlCol="0" anchor="t">
            <a:spAutoFit/>
          </a:bodyPr>
          <a:lstStyle/>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Image based patient search(Face recognition).</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Live integration with government health ID, Ayushman Bharath Health Account(ABHA).</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Real-time health monitoring device connection, Internet of Things(IoT).</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Multi-language summarization.</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Prescription generator using AI and chatbot.</a:t>
            </a:r>
          </a:p>
          <a:p>
            <a:pPr algn="just">
              <a:lnSpc>
                <a:spcPts val="5040"/>
              </a:lnSpc>
            </a:pPr>
            <a:endParaRPr lang="en-US" sz="3600" dirty="0">
              <a:solidFill>
                <a:srgbClr val="000000"/>
              </a:solidFill>
              <a:latin typeface="Times New Roman"/>
              <a:ea typeface="Times New Roman"/>
              <a:cs typeface="Times New Roman"/>
              <a:sym typeface="Times New Roman"/>
            </a:endParaRPr>
          </a:p>
        </p:txBody>
      </p:sp>
      <p:sp>
        <p:nvSpPr>
          <p:cNvPr id="5" name="Freeform 5"/>
          <p:cNvSpPr/>
          <p:nvPr/>
        </p:nvSpPr>
        <p:spPr>
          <a:xfrm>
            <a:off x="131436" y="339928"/>
            <a:ext cx="1294296" cy="962486"/>
          </a:xfrm>
          <a:custGeom>
            <a:avLst/>
            <a:gdLst/>
            <a:ahLst/>
            <a:cxnLst/>
            <a:rect l="l" t="t" r="r" b="b"/>
            <a:pathLst>
              <a:path w="1294296" h="962486">
                <a:moveTo>
                  <a:pt x="0" y="0"/>
                </a:moveTo>
                <a:lnTo>
                  <a:pt x="1294297" y="0"/>
                </a:lnTo>
                <a:lnTo>
                  <a:pt x="1294297" y="962486"/>
                </a:lnTo>
                <a:lnTo>
                  <a:pt x="0" y="9624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6EE0D579-6E79-1739-87EC-19698517E887}"/>
              </a:ext>
            </a:extLst>
          </p:cNvPr>
          <p:cNvSpPr/>
          <p:nvPr/>
        </p:nvSpPr>
        <p:spPr>
          <a:xfrm>
            <a:off x="131436" y="339928"/>
            <a:ext cx="1294296" cy="962486"/>
          </a:xfrm>
          <a:custGeom>
            <a:avLst/>
            <a:gdLst/>
            <a:ahLst/>
            <a:cxnLst/>
            <a:rect l="l" t="t" r="r" b="b"/>
            <a:pathLst>
              <a:path w="1294296" h="962486">
                <a:moveTo>
                  <a:pt x="0" y="0"/>
                </a:moveTo>
                <a:lnTo>
                  <a:pt x="1294297" y="0"/>
                </a:lnTo>
                <a:lnTo>
                  <a:pt x="1294297" y="962486"/>
                </a:lnTo>
                <a:lnTo>
                  <a:pt x="0" y="962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a:extLst>
              <a:ext uri="{FF2B5EF4-FFF2-40B4-BE49-F238E27FC236}">
                <a16:creationId xmlns:a16="http://schemas.microsoft.com/office/drawing/2014/main" id="{5663018F-9D30-DF7A-5D7A-81B3A5732E69}"/>
              </a:ext>
            </a:extLst>
          </p:cNvPr>
          <p:cNvSpPr txBox="1"/>
          <p:nvPr/>
        </p:nvSpPr>
        <p:spPr>
          <a:xfrm>
            <a:off x="7177530" y="516255"/>
            <a:ext cx="5090670" cy="904094"/>
          </a:xfrm>
          <a:prstGeom prst="rect">
            <a:avLst/>
          </a:prstGeom>
        </p:spPr>
        <p:txBody>
          <a:bodyPr wrap="square" lIns="0" tIns="0" rIns="0" bIns="0" rtlCol="0" anchor="t">
            <a:spAutoFit/>
          </a:bodyPr>
          <a:lstStyle/>
          <a:p>
            <a:pPr algn="l">
              <a:lnSpc>
                <a:spcPts val="7559"/>
              </a:lnSpc>
            </a:pPr>
            <a:r>
              <a:rPr lang="en-US" sz="5400" b="1" u="sng" dirty="0">
                <a:solidFill>
                  <a:srgbClr val="2A3990"/>
                </a:solidFill>
                <a:latin typeface="Roboto Bold"/>
                <a:ea typeface="Roboto Bold"/>
                <a:cs typeface="Roboto Bold"/>
                <a:sym typeface="Roboto Bold"/>
              </a:rPr>
              <a:t>GITHUB LINK</a:t>
            </a:r>
          </a:p>
        </p:txBody>
      </p:sp>
      <p:sp>
        <p:nvSpPr>
          <p:cNvPr id="4" name="TextBox 4">
            <a:hlinkClick r:id="rId4"/>
            <a:extLst>
              <a:ext uri="{FF2B5EF4-FFF2-40B4-BE49-F238E27FC236}">
                <a16:creationId xmlns:a16="http://schemas.microsoft.com/office/drawing/2014/main" id="{3DAE3C2D-8042-B64B-47E7-D4319A4AC5A5}"/>
              </a:ext>
            </a:extLst>
          </p:cNvPr>
          <p:cNvSpPr txBox="1"/>
          <p:nvPr/>
        </p:nvSpPr>
        <p:spPr>
          <a:xfrm>
            <a:off x="1028700" y="2593068"/>
            <a:ext cx="16230600" cy="1230273"/>
          </a:xfrm>
          <a:prstGeom prst="rect">
            <a:avLst/>
          </a:prstGeom>
        </p:spPr>
        <p:txBody>
          <a:bodyPr lIns="0" tIns="0" rIns="0" bIns="0" rtlCol="0" anchor="t">
            <a:spAutoFit/>
          </a:bodyPr>
          <a:lstStyle/>
          <a:p>
            <a:pPr marL="388625" lvl="1" algn="just">
              <a:lnSpc>
                <a:spcPts val="5040"/>
              </a:lnSpc>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GitHub Repo Name : </a:t>
            </a:r>
            <a:r>
              <a:rPr lang="en-US" sz="3600" dirty="0" err="1">
                <a:solidFill>
                  <a:srgbClr val="000000"/>
                </a:solidFill>
                <a:latin typeface="Times New Roman" panose="02020603050405020304" pitchFamily="18" charset="0"/>
                <a:ea typeface="Times New Roman"/>
                <a:cs typeface="Times New Roman" panose="02020603050405020304" pitchFamily="18" charset="0"/>
                <a:sym typeface="Times New Roman"/>
              </a:rPr>
              <a:t>Mediscan</a:t>
            </a: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 AI</a:t>
            </a:r>
          </a:p>
          <a:p>
            <a:pPr marL="388625" lvl="1" algn="just">
              <a:lnSpc>
                <a:spcPts val="5040"/>
              </a:lnSpc>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Link : https://github.com/Tarung33/MediscanAI.git</a:t>
            </a:r>
            <a:endParaRPr lang="en-US" sz="360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21261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6225112" y="1948180"/>
            <a:ext cx="5837756" cy="1358900"/>
          </a:xfrm>
          <a:prstGeom prst="rect">
            <a:avLst/>
          </a:prstGeom>
        </p:spPr>
        <p:txBody>
          <a:bodyPr lIns="0" tIns="0" rIns="0" bIns="0" rtlCol="0" anchor="t">
            <a:spAutoFit/>
          </a:bodyPr>
          <a:lstStyle/>
          <a:p>
            <a:pPr algn="l">
              <a:lnSpc>
                <a:spcPts val="11199"/>
              </a:lnSpc>
            </a:pPr>
            <a:r>
              <a:rPr lang="en-US" sz="7999" b="1" u="sng">
                <a:solidFill>
                  <a:srgbClr val="2A3990"/>
                </a:solidFill>
                <a:latin typeface="Roboto Bold"/>
                <a:ea typeface="Roboto Bold"/>
                <a:cs typeface="Roboto Bold"/>
                <a:sym typeface="Roboto Bold"/>
              </a:rPr>
              <a:t>THANK YOU</a:t>
            </a:r>
          </a:p>
        </p:txBody>
      </p:sp>
      <p:sp>
        <p:nvSpPr>
          <p:cNvPr id="4" name="Freeform 4"/>
          <p:cNvSpPr/>
          <p:nvPr/>
        </p:nvSpPr>
        <p:spPr>
          <a:xfrm>
            <a:off x="131436" y="339928"/>
            <a:ext cx="1400751" cy="1041649"/>
          </a:xfrm>
          <a:custGeom>
            <a:avLst/>
            <a:gdLst/>
            <a:ahLst/>
            <a:cxnLst/>
            <a:rect l="l" t="t" r="r" b="b"/>
            <a:pathLst>
              <a:path w="1400751" h="1041649">
                <a:moveTo>
                  <a:pt x="0" y="0"/>
                </a:moveTo>
                <a:lnTo>
                  <a:pt x="1400751" y="0"/>
                </a:lnTo>
                <a:lnTo>
                  <a:pt x="1400751" y="1041649"/>
                </a:lnTo>
                <a:lnTo>
                  <a:pt x="0" y="10416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2488180" y="4175125"/>
            <a:ext cx="13311639" cy="1727200"/>
          </a:xfrm>
          <a:prstGeom prst="rect">
            <a:avLst/>
          </a:prstGeom>
        </p:spPr>
        <p:txBody>
          <a:bodyPr lIns="0" tIns="0" rIns="0" bIns="0" rtlCol="0" anchor="t">
            <a:spAutoFit/>
          </a:bodyPr>
          <a:lstStyle/>
          <a:p>
            <a:pPr algn="ctr">
              <a:lnSpc>
                <a:spcPts val="14000"/>
              </a:lnSpc>
              <a:spcBef>
                <a:spcPct val="0"/>
              </a:spcBef>
            </a:pPr>
            <a:r>
              <a:rPr lang="en-US" sz="10000" b="1">
                <a:solidFill>
                  <a:srgbClr val="2A3990"/>
                </a:solidFill>
                <a:latin typeface="Roboto Bold"/>
                <a:ea typeface="Roboto Bold"/>
                <a:cs typeface="Roboto Bold"/>
                <a:sym typeface="Roboto Bold"/>
              </a:rPr>
              <a:t>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662</Words>
  <Application>Microsoft Office PowerPoint</Application>
  <PresentationFormat>Custom</PresentationFormat>
  <Paragraphs>100</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Times New Roman Bold</vt:lpstr>
      <vt:lpstr>Calibri</vt:lpstr>
      <vt:lpstr>Times New Roman</vt:lpstr>
      <vt:lpstr>Arial</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MediScan AI</dc:title>
  <cp:lastModifiedBy>Tarun G</cp:lastModifiedBy>
  <cp:revision>2</cp:revision>
  <dcterms:created xsi:type="dcterms:W3CDTF">2006-08-16T00:00:00Z</dcterms:created>
  <dcterms:modified xsi:type="dcterms:W3CDTF">2025-12-14T15:50:57Z</dcterms:modified>
  <dc:identifier>DAG2n7BM7ik</dc:identifier>
</cp:coreProperties>
</file>