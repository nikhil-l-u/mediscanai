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al Bold" panose="020B0704020202020204" pitchFamily="34" charset="0"/>
      <p:regular r:id="rId12"/>
      <p:bold r:id="rId13"/>
    </p:embeddedFont>
    <p:embeddedFont>
      <p:font typeface="Roboto" panose="02000000000000000000" pitchFamily="2" charset="0"/>
      <p:regular r:id="rId14"/>
    </p:embeddedFont>
    <p:embeddedFont>
      <p:font typeface="Roboto Bold" panose="02000000000000000000" charset="0"/>
      <p:regular r:id="rId15"/>
    </p:embeddedFont>
    <p:embeddedFont>
      <p:font typeface="Times New Roman Bold" panose="02020803070505020304" pitchFamily="18"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19.sv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5.sv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3990"/>
        </a:solidFill>
        <a:effectLst/>
      </p:bgPr>
    </p:bg>
    <p:spTree>
      <p:nvGrpSpPr>
        <p:cNvPr id="1" name=""/>
        <p:cNvGrpSpPr/>
        <p:nvPr/>
      </p:nvGrpSpPr>
      <p:grpSpPr>
        <a:xfrm>
          <a:off x="0" y="0"/>
          <a:ext cx="0" cy="0"/>
          <a:chOff x="0" y="0"/>
          <a:chExt cx="0" cy="0"/>
        </a:xfrm>
      </p:grpSpPr>
      <p:sp>
        <p:nvSpPr>
          <p:cNvPr id="2" name="Freeform 2"/>
          <p:cNvSpPr/>
          <p:nvPr/>
        </p:nvSpPr>
        <p:spPr>
          <a:xfrm>
            <a:off x="220504" y="-126987"/>
            <a:ext cx="18194503" cy="9637662"/>
          </a:xfrm>
          <a:custGeom>
            <a:avLst/>
            <a:gdLst/>
            <a:ahLst/>
            <a:cxnLst/>
            <a:rect l="l" t="t" r="r" b="b"/>
            <a:pathLst>
              <a:path w="18194503" h="9637662">
                <a:moveTo>
                  <a:pt x="0" y="0"/>
                </a:moveTo>
                <a:lnTo>
                  <a:pt x="18194502" y="0"/>
                </a:lnTo>
                <a:lnTo>
                  <a:pt x="18194502" y="9637661"/>
                </a:lnTo>
                <a:lnTo>
                  <a:pt x="0" y="96376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47491" y="128054"/>
            <a:ext cx="2704452" cy="2763241"/>
          </a:xfrm>
          <a:custGeom>
            <a:avLst/>
            <a:gdLst/>
            <a:ahLst/>
            <a:cxnLst/>
            <a:rect l="l" t="t" r="r" b="b"/>
            <a:pathLst>
              <a:path w="2704452" h="2763241">
                <a:moveTo>
                  <a:pt x="0" y="0"/>
                </a:moveTo>
                <a:lnTo>
                  <a:pt x="2704452" y="0"/>
                </a:lnTo>
                <a:lnTo>
                  <a:pt x="2704452" y="2763241"/>
                </a:lnTo>
                <a:lnTo>
                  <a:pt x="0" y="2763241"/>
                </a:lnTo>
                <a:lnTo>
                  <a:pt x="0" y="0"/>
                </a:lnTo>
                <a:close/>
              </a:path>
            </a:pathLst>
          </a:custGeom>
          <a:blipFill>
            <a:blip r:embed="rId4"/>
            <a:stretch>
              <a:fillRect/>
            </a:stretch>
          </a:blipFill>
        </p:spPr>
        <p:txBody>
          <a:bodyPr/>
          <a:lstStyle/>
          <a:p>
            <a:endParaRPr lang="en-IN"/>
          </a:p>
        </p:txBody>
      </p:sp>
      <p:sp>
        <p:nvSpPr>
          <p:cNvPr id="4" name="Freeform 4"/>
          <p:cNvSpPr/>
          <p:nvPr/>
        </p:nvSpPr>
        <p:spPr>
          <a:xfrm>
            <a:off x="15144369" y="0"/>
            <a:ext cx="3143631" cy="3040932"/>
          </a:xfrm>
          <a:custGeom>
            <a:avLst/>
            <a:gdLst/>
            <a:ahLst/>
            <a:cxnLst/>
            <a:rect l="l" t="t" r="r" b="b"/>
            <a:pathLst>
              <a:path w="3143631" h="3040932">
                <a:moveTo>
                  <a:pt x="0" y="0"/>
                </a:moveTo>
                <a:lnTo>
                  <a:pt x="3143631" y="0"/>
                </a:lnTo>
                <a:lnTo>
                  <a:pt x="3143631" y="3040932"/>
                </a:lnTo>
                <a:lnTo>
                  <a:pt x="0" y="30409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5" name="Freeform 5"/>
          <p:cNvSpPr/>
          <p:nvPr/>
        </p:nvSpPr>
        <p:spPr>
          <a:xfrm>
            <a:off x="15144369" y="0"/>
            <a:ext cx="3143631" cy="3040932"/>
          </a:xfrm>
          <a:custGeom>
            <a:avLst/>
            <a:gdLst/>
            <a:ahLst/>
            <a:cxnLst/>
            <a:rect l="l" t="t" r="r" b="b"/>
            <a:pathLst>
              <a:path w="3143631" h="3040932">
                <a:moveTo>
                  <a:pt x="0" y="0"/>
                </a:moveTo>
                <a:lnTo>
                  <a:pt x="3143631" y="0"/>
                </a:lnTo>
                <a:lnTo>
                  <a:pt x="3143631" y="3040932"/>
                </a:lnTo>
                <a:lnTo>
                  <a:pt x="0" y="3040932"/>
                </a:lnTo>
                <a:lnTo>
                  <a:pt x="0" y="0"/>
                </a:lnTo>
                <a:close/>
              </a:path>
            </a:pathLst>
          </a:custGeom>
          <a:blipFill>
            <a:blip r:embed="rId7"/>
            <a:stretch>
              <a:fillRect t="-6702" r="-6396"/>
            </a:stretch>
          </a:blipFill>
        </p:spPr>
        <p:txBody>
          <a:bodyPr/>
          <a:lstStyle/>
          <a:p>
            <a:endParaRPr lang="en-IN"/>
          </a:p>
        </p:txBody>
      </p:sp>
      <p:sp>
        <p:nvSpPr>
          <p:cNvPr id="6" name="Freeform 6"/>
          <p:cNvSpPr/>
          <p:nvPr/>
        </p:nvSpPr>
        <p:spPr>
          <a:xfrm>
            <a:off x="3571723" y="415347"/>
            <a:ext cx="9945605" cy="2006403"/>
          </a:xfrm>
          <a:custGeom>
            <a:avLst/>
            <a:gdLst/>
            <a:ahLst/>
            <a:cxnLst/>
            <a:rect l="l" t="t" r="r" b="b"/>
            <a:pathLst>
              <a:path w="9945605" h="2006403">
                <a:moveTo>
                  <a:pt x="0" y="0"/>
                </a:moveTo>
                <a:lnTo>
                  <a:pt x="9945605" y="0"/>
                </a:lnTo>
                <a:lnTo>
                  <a:pt x="9945605" y="2006403"/>
                </a:lnTo>
                <a:lnTo>
                  <a:pt x="0" y="200640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7" name="TextBox 7"/>
          <p:cNvSpPr txBox="1"/>
          <p:nvPr/>
        </p:nvSpPr>
        <p:spPr>
          <a:xfrm>
            <a:off x="4993100" y="3475482"/>
            <a:ext cx="8351863" cy="685800"/>
          </a:xfrm>
          <a:prstGeom prst="rect">
            <a:avLst/>
          </a:prstGeom>
        </p:spPr>
        <p:txBody>
          <a:bodyPr lIns="0" tIns="0" rIns="0" bIns="0" rtlCol="0" anchor="t">
            <a:spAutoFit/>
          </a:bodyPr>
          <a:lstStyle/>
          <a:p>
            <a:pPr algn="l">
              <a:lnSpc>
                <a:spcPts val="5280"/>
              </a:lnSpc>
            </a:pPr>
            <a:r>
              <a:rPr lang="en-US" sz="4400" b="1">
                <a:solidFill>
                  <a:srgbClr val="FFFFFF"/>
                </a:solidFill>
                <a:latin typeface="Times New Roman Bold"/>
                <a:ea typeface="Times New Roman Bold"/>
                <a:cs typeface="Times New Roman Bold"/>
                <a:sym typeface="Times New Roman Bold"/>
              </a:rPr>
              <a:t>Mini Project – Proposal Seminar</a:t>
            </a:r>
          </a:p>
        </p:txBody>
      </p:sp>
      <p:sp>
        <p:nvSpPr>
          <p:cNvPr id="8" name="TextBox 8"/>
          <p:cNvSpPr txBox="1"/>
          <p:nvPr/>
        </p:nvSpPr>
        <p:spPr>
          <a:xfrm>
            <a:off x="766593" y="4428490"/>
            <a:ext cx="16754815" cy="1410970"/>
          </a:xfrm>
          <a:prstGeom prst="rect">
            <a:avLst/>
          </a:prstGeom>
        </p:spPr>
        <p:txBody>
          <a:bodyPr lIns="0" tIns="0" rIns="0" bIns="0" rtlCol="0" anchor="t">
            <a:spAutoFit/>
          </a:bodyPr>
          <a:lstStyle/>
          <a:p>
            <a:pPr algn="ctr">
              <a:lnSpc>
                <a:spcPts val="5280"/>
              </a:lnSpc>
            </a:pPr>
            <a:r>
              <a:rPr lang="en-US" sz="4400" b="1">
                <a:solidFill>
                  <a:srgbClr val="FFFFFF"/>
                </a:solidFill>
                <a:latin typeface="Times New Roman Bold"/>
                <a:ea typeface="Times New Roman Bold"/>
                <a:cs typeface="Times New Roman Bold"/>
                <a:sym typeface="Times New Roman Bold"/>
              </a:rPr>
              <a:t> On </a:t>
            </a:r>
          </a:p>
          <a:p>
            <a:pPr algn="ctr">
              <a:lnSpc>
                <a:spcPts val="6159"/>
              </a:lnSpc>
            </a:pPr>
            <a:r>
              <a:rPr lang="en-US" sz="4400">
                <a:solidFill>
                  <a:srgbClr val="FFFFFF"/>
                </a:solidFill>
                <a:latin typeface="Times New Roman"/>
                <a:ea typeface="Times New Roman"/>
                <a:cs typeface="Times New Roman"/>
                <a:sym typeface="Times New Roman"/>
              </a:rPr>
              <a:t>‘‘ MediScan AI : Instant Patient History Retrieval &amp; Emergency Aid ’’</a:t>
            </a:r>
          </a:p>
        </p:txBody>
      </p:sp>
      <p:sp>
        <p:nvSpPr>
          <p:cNvPr id="9" name="TextBox 9"/>
          <p:cNvSpPr txBox="1"/>
          <p:nvPr/>
        </p:nvSpPr>
        <p:spPr>
          <a:xfrm>
            <a:off x="1028700" y="6562725"/>
            <a:ext cx="4572992" cy="3020058"/>
          </a:xfrm>
          <a:prstGeom prst="rect">
            <a:avLst/>
          </a:prstGeom>
        </p:spPr>
        <p:txBody>
          <a:bodyPr lIns="0" tIns="0" rIns="0" bIns="0" rtlCol="0" anchor="t">
            <a:spAutoFit/>
          </a:bodyPr>
          <a:lstStyle/>
          <a:p>
            <a:pPr>
              <a:lnSpc>
                <a:spcPts val="4480"/>
              </a:lnSpc>
            </a:pPr>
            <a:r>
              <a:rPr lang="en-US" sz="2800" b="1" dirty="0">
                <a:solidFill>
                  <a:srgbClr val="FFFFFF"/>
                </a:solidFill>
                <a:latin typeface="Times New Roman" panose="02020603050405020304" pitchFamily="18" charset="0"/>
                <a:ea typeface="Roboto Bold"/>
                <a:cs typeface="Times New Roman" panose="02020603050405020304" pitchFamily="18" charset="0"/>
                <a:sym typeface="Roboto Bold"/>
              </a:rPr>
              <a:t>Presented By, </a:t>
            </a:r>
            <a:br>
              <a:rPr lang="en-US" sz="2800" b="1" dirty="0">
                <a:solidFill>
                  <a:srgbClr val="FFFFFF"/>
                </a:solidFill>
                <a:latin typeface="Times New Roman" panose="02020603050405020304" pitchFamily="18" charset="0"/>
                <a:ea typeface="Roboto Bold"/>
                <a:cs typeface="Times New Roman" panose="02020603050405020304" pitchFamily="18" charset="0"/>
                <a:sym typeface="Roboto Bold"/>
              </a:rPr>
            </a:br>
            <a:r>
              <a:rPr lang="en-US" sz="2800" b="1" dirty="0">
                <a:solidFill>
                  <a:srgbClr val="FFFFFF"/>
                </a:solidFill>
                <a:latin typeface="Times New Roman" panose="02020603050405020304" pitchFamily="18" charset="0"/>
                <a:ea typeface="Roboto Bold"/>
                <a:cs typeface="Times New Roman" panose="02020603050405020304" pitchFamily="18" charset="0"/>
                <a:sym typeface="Roboto Bold"/>
              </a:rPr>
              <a:t>Group No.- 04</a:t>
            </a:r>
          </a:p>
          <a:p>
            <a:pPr algn="just">
              <a:lnSpc>
                <a:spcPts val="4480"/>
              </a:lnSpc>
            </a:pPr>
            <a:r>
              <a:rPr lang="en-US" sz="2800" dirty="0">
                <a:solidFill>
                  <a:srgbClr val="FFFFFF"/>
                </a:solidFill>
                <a:latin typeface="Times New Roman" panose="02020603050405020304" pitchFamily="18" charset="0"/>
                <a:ea typeface="Roboto"/>
                <a:cs typeface="Times New Roman" panose="02020603050405020304" pitchFamily="18" charset="0"/>
                <a:sym typeface="Roboto"/>
              </a:rPr>
              <a:t>Tarun G           (4AI23CD056)</a:t>
            </a:r>
          </a:p>
          <a:p>
            <a:pPr algn="just">
              <a:lnSpc>
                <a:spcPts val="3360"/>
              </a:lnSpc>
            </a:pPr>
            <a:r>
              <a:rPr lang="en-US" sz="2800" dirty="0">
                <a:solidFill>
                  <a:srgbClr val="FFFFFF"/>
                </a:solidFill>
                <a:latin typeface="Times New Roman" panose="02020603050405020304" pitchFamily="18" charset="0"/>
                <a:ea typeface="Roboto"/>
                <a:cs typeface="Times New Roman" panose="02020603050405020304" pitchFamily="18" charset="0"/>
                <a:sym typeface="Roboto"/>
              </a:rPr>
              <a:t>Sai Gokul P V (4AI23CD045)</a:t>
            </a:r>
          </a:p>
          <a:p>
            <a:pPr algn="just">
              <a:lnSpc>
                <a:spcPts val="3360"/>
              </a:lnSpc>
            </a:pPr>
            <a:r>
              <a:rPr lang="en-US" sz="2800" dirty="0" err="1">
                <a:solidFill>
                  <a:srgbClr val="FFFFFF"/>
                </a:solidFill>
                <a:latin typeface="Times New Roman" panose="02020603050405020304" pitchFamily="18" charset="0"/>
                <a:ea typeface="Roboto"/>
                <a:cs typeface="Times New Roman" panose="02020603050405020304" pitchFamily="18" charset="0"/>
                <a:sym typeface="Roboto"/>
              </a:rPr>
              <a:t>Likeeth</a:t>
            </a:r>
            <a:r>
              <a:rPr lang="en-US" sz="2800" dirty="0">
                <a:solidFill>
                  <a:srgbClr val="FFFFFF"/>
                </a:solidFill>
                <a:latin typeface="Times New Roman" panose="02020603050405020304" pitchFamily="18" charset="0"/>
                <a:ea typeface="Roboto"/>
                <a:cs typeface="Times New Roman" panose="02020603050405020304" pitchFamily="18" charset="0"/>
                <a:sym typeface="Roboto"/>
              </a:rPr>
              <a:t> G </a:t>
            </a:r>
            <a:r>
              <a:rPr lang="en-US" sz="2800" dirty="0" err="1">
                <a:solidFill>
                  <a:srgbClr val="FFFFFF"/>
                </a:solidFill>
                <a:latin typeface="Times New Roman" panose="02020603050405020304" pitchFamily="18" charset="0"/>
                <a:ea typeface="Roboto"/>
                <a:cs typeface="Times New Roman" panose="02020603050405020304" pitchFamily="18" charset="0"/>
                <a:sym typeface="Roboto"/>
              </a:rPr>
              <a:t>Urs</a:t>
            </a:r>
            <a:r>
              <a:rPr lang="en-US" sz="2800" dirty="0">
                <a:solidFill>
                  <a:srgbClr val="FFFFFF"/>
                </a:solidFill>
                <a:latin typeface="Times New Roman" panose="02020603050405020304" pitchFamily="18" charset="0"/>
                <a:ea typeface="Roboto"/>
                <a:cs typeface="Times New Roman" panose="02020603050405020304" pitchFamily="18" charset="0"/>
                <a:sym typeface="Roboto"/>
              </a:rPr>
              <a:t> (4AI23CD025)</a:t>
            </a:r>
          </a:p>
          <a:p>
            <a:pPr algn="just">
              <a:lnSpc>
                <a:spcPts val="3359"/>
              </a:lnSpc>
            </a:pPr>
            <a:r>
              <a:rPr lang="en-US" sz="2799" dirty="0">
                <a:solidFill>
                  <a:srgbClr val="FFFFFF"/>
                </a:solidFill>
                <a:latin typeface="Times New Roman" panose="02020603050405020304" pitchFamily="18" charset="0"/>
                <a:ea typeface="Roboto"/>
                <a:cs typeface="Times New Roman" panose="02020603050405020304" pitchFamily="18" charset="0"/>
                <a:sym typeface="Roboto"/>
              </a:rPr>
              <a:t>Nikhil L U        (4AI23CD031)</a:t>
            </a:r>
          </a:p>
        </p:txBody>
      </p:sp>
      <p:sp>
        <p:nvSpPr>
          <p:cNvPr id="10" name="TextBox 10"/>
          <p:cNvSpPr txBox="1"/>
          <p:nvPr/>
        </p:nvSpPr>
        <p:spPr>
          <a:xfrm>
            <a:off x="12539740" y="6562725"/>
            <a:ext cx="4176444" cy="1086485"/>
          </a:xfrm>
          <a:prstGeom prst="rect">
            <a:avLst/>
          </a:prstGeom>
        </p:spPr>
        <p:txBody>
          <a:bodyPr lIns="0" tIns="0" rIns="0" bIns="0" rtlCol="0" anchor="t">
            <a:spAutoFit/>
          </a:bodyPr>
          <a:lstStyle/>
          <a:p>
            <a:pPr algn="l">
              <a:lnSpc>
                <a:spcPts val="4480"/>
              </a:lnSpc>
            </a:pPr>
            <a:r>
              <a:rPr lang="en-US" sz="2800" b="1" dirty="0">
                <a:solidFill>
                  <a:srgbClr val="FFFFFF"/>
                </a:solidFill>
                <a:latin typeface="Times New Roman" panose="02020603050405020304" pitchFamily="18" charset="0"/>
                <a:ea typeface="Roboto Bold"/>
                <a:cs typeface="Times New Roman" panose="02020603050405020304" pitchFamily="18" charset="0"/>
                <a:sym typeface="Roboto Bold"/>
              </a:rPr>
              <a:t>Under the Guidance Of</a:t>
            </a:r>
          </a:p>
          <a:p>
            <a:pPr algn="l">
              <a:lnSpc>
                <a:spcPts val="4480"/>
              </a:lnSpc>
            </a:pPr>
            <a:r>
              <a:rPr lang="en-US" sz="2799" dirty="0">
                <a:solidFill>
                  <a:srgbClr val="FFFFFF"/>
                </a:solidFill>
                <a:latin typeface="Times New Roman" panose="02020603050405020304" pitchFamily="18" charset="0"/>
                <a:ea typeface="Roboto"/>
                <a:cs typeface="Times New Roman" panose="02020603050405020304" pitchFamily="18" charset="0"/>
                <a:sym typeface="Roboto"/>
              </a:rPr>
              <a:t>Asst Prof . Harshitha H D</a:t>
            </a:r>
          </a:p>
        </p:txBody>
      </p:sp>
      <p:sp>
        <p:nvSpPr>
          <p:cNvPr id="11" name="TextBox 11"/>
          <p:cNvSpPr txBox="1"/>
          <p:nvPr/>
        </p:nvSpPr>
        <p:spPr>
          <a:xfrm>
            <a:off x="4317111" y="599027"/>
            <a:ext cx="8615705" cy="1652226"/>
          </a:xfrm>
          <a:prstGeom prst="rect">
            <a:avLst/>
          </a:prstGeom>
        </p:spPr>
        <p:txBody>
          <a:bodyPr lIns="0" tIns="0" rIns="0" bIns="0" rtlCol="0" anchor="t">
            <a:spAutoFit/>
          </a:bodyPr>
          <a:lstStyle/>
          <a:p>
            <a:pPr algn="ctr">
              <a:lnSpc>
                <a:spcPts val="4320"/>
              </a:lnSpc>
            </a:pPr>
            <a:r>
              <a:rPr lang="en-US" sz="3600" b="1">
                <a:solidFill>
                  <a:srgbClr val="F2F2F2"/>
                </a:solidFill>
                <a:latin typeface="Roboto Bold"/>
                <a:ea typeface="Roboto Bold"/>
                <a:cs typeface="Roboto Bold"/>
                <a:sym typeface="Roboto Bold"/>
              </a:rPr>
              <a:t>Dept. of CS&amp;E ( DATA SCIENCE) Adichunchanagiri Institute of Technology Chikkamagaluru - 577102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8839"/>
            <a:ext cx="18541994" cy="10405148"/>
          </a:xfrm>
          <a:custGeom>
            <a:avLst/>
            <a:gdLst/>
            <a:ahLst/>
            <a:cxnLst/>
            <a:rect l="l" t="t" r="r" b="b"/>
            <a:pathLst>
              <a:path w="18541994" h="10405148">
                <a:moveTo>
                  <a:pt x="0" y="0"/>
                </a:moveTo>
                <a:lnTo>
                  <a:pt x="18541993" y="0"/>
                </a:lnTo>
                <a:lnTo>
                  <a:pt x="18541993" y="10405148"/>
                </a:lnTo>
                <a:lnTo>
                  <a:pt x="0" y="104051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7798346" y="235153"/>
            <a:ext cx="2742800" cy="922915"/>
          </a:xfrm>
          <a:prstGeom prst="rect">
            <a:avLst/>
          </a:prstGeom>
        </p:spPr>
        <p:txBody>
          <a:bodyPr lIns="0" tIns="0" rIns="0" bIns="0" rtlCol="0" anchor="t">
            <a:spAutoFit/>
          </a:bodyPr>
          <a:lstStyle/>
          <a:p>
            <a:pPr algn="l">
              <a:lnSpc>
                <a:spcPts val="7559"/>
              </a:lnSpc>
            </a:pPr>
            <a:r>
              <a:rPr lang="en-US" sz="5400" b="1">
                <a:solidFill>
                  <a:srgbClr val="2A3990"/>
                </a:solidFill>
                <a:latin typeface="Roboto Bold"/>
                <a:ea typeface="Roboto Bold"/>
                <a:cs typeface="Roboto Bold"/>
                <a:sym typeface="Roboto Bold"/>
              </a:rPr>
              <a:t>AGENDA</a:t>
            </a:r>
          </a:p>
        </p:txBody>
      </p:sp>
      <p:sp>
        <p:nvSpPr>
          <p:cNvPr id="4" name="TextBox 4"/>
          <p:cNvSpPr txBox="1"/>
          <p:nvPr/>
        </p:nvSpPr>
        <p:spPr>
          <a:xfrm>
            <a:off x="975893" y="1628946"/>
            <a:ext cx="281673" cy="5834310"/>
          </a:xfrm>
          <a:prstGeom prst="rect">
            <a:avLst/>
          </a:prstGeom>
        </p:spPr>
        <p:txBody>
          <a:bodyPr lIns="0" tIns="0" rIns="0" bIns="0" rtlCol="0" anchor="t">
            <a:spAutoFit/>
          </a:bodyPr>
          <a:lstStyle/>
          <a:p>
            <a:pPr algn="just">
              <a:lnSpc>
                <a:spcPts val="6624"/>
              </a:lnSpc>
            </a:pPr>
            <a:r>
              <a:rPr lang="en-US" sz="3600" b="1">
                <a:solidFill>
                  <a:srgbClr val="434343"/>
                </a:solidFill>
                <a:latin typeface="Arial Bold"/>
                <a:ea typeface="Arial Bold"/>
                <a:cs typeface="Arial Bold"/>
                <a:sym typeface="Arial Bold"/>
              </a:rPr>
              <a:t>● ● ● ● ● ● ●</a:t>
            </a:r>
          </a:p>
        </p:txBody>
      </p:sp>
      <p:sp>
        <p:nvSpPr>
          <p:cNvPr id="5" name="TextBox 5"/>
          <p:cNvSpPr txBox="1"/>
          <p:nvPr/>
        </p:nvSpPr>
        <p:spPr>
          <a:xfrm>
            <a:off x="1709233" y="1676791"/>
            <a:ext cx="7434758" cy="5871972"/>
          </a:xfrm>
          <a:prstGeom prst="rect">
            <a:avLst/>
          </a:prstGeom>
        </p:spPr>
        <p:txBody>
          <a:bodyPr lIns="0" tIns="0" rIns="0" bIns="0" rtlCol="0" anchor="t">
            <a:spAutoFit/>
          </a:bodyPr>
          <a:lstStyle/>
          <a:p>
            <a:pPr algn="l">
              <a:lnSpc>
                <a:spcPts val="6623"/>
              </a:lnSpc>
            </a:pPr>
            <a:r>
              <a:rPr lang="en-US" sz="4800" b="1">
                <a:solidFill>
                  <a:srgbClr val="434343"/>
                </a:solidFill>
                <a:latin typeface="Times New Roman Bold"/>
                <a:ea typeface="Times New Roman Bold"/>
                <a:cs typeface="Times New Roman Bold"/>
                <a:sym typeface="Times New Roman Bold"/>
              </a:rPr>
              <a:t>About the Project Motivation </a:t>
            </a:r>
          </a:p>
          <a:p>
            <a:pPr algn="l">
              <a:lnSpc>
                <a:spcPts val="6623"/>
              </a:lnSpc>
            </a:pPr>
            <a:r>
              <a:rPr lang="en-US" sz="4800" b="1">
                <a:solidFill>
                  <a:srgbClr val="434343"/>
                </a:solidFill>
                <a:latin typeface="Times New Roman Bold"/>
                <a:ea typeface="Times New Roman Bold"/>
                <a:cs typeface="Times New Roman Bold"/>
                <a:sym typeface="Times New Roman Bold"/>
              </a:rPr>
              <a:t>Existing System </a:t>
            </a:r>
          </a:p>
          <a:p>
            <a:pPr algn="l">
              <a:lnSpc>
                <a:spcPts val="6623"/>
              </a:lnSpc>
            </a:pPr>
            <a:r>
              <a:rPr lang="en-US" sz="4800" b="1">
                <a:solidFill>
                  <a:srgbClr val="434343"/>
                </a:solidFill>
                <a:latin typeface="Times New Roman Bold"/>
                <a:ea typeface="Times New Roman Bold"/>
                <a:cs typeface="Times New Roman Bold"/>
                <a:sym typeface="Times New Roman Bold"/>
              </a:rPr>
              <a:t>Proposed System</a:t>
            </a:r>
          </a:p>
          <a:p>
            <a:pPr algn="l">
              <a:lnSpc>
                <a:spcPts val="6623"/>
              </a:lnSpc>
            </a:pPr>
            <a:r>
              <a:rPr lang="en-US" sz="4800" b="1">
                <a:solidFill>
                  <a:srgbClr val="434343"/>
                </a:solidFill>
                <a:latin typeface="Times New Roman Bold"/>
                <a:ea typeface="Times New Roman Bold"/>
                <a:cs typeface="Times New Roman Bold"/>
                <a:sym typeface="Times New Roman Bold"/>
              </a:rPr>
              <a:t>Problem Statement </a:t>
            </a:r>
          </a:p>
          <a:p>
            <a:pPr algn="l">
              <a:lnSpc>
                <a:spcPts val="6623"/>
              </a:lnSpc>
            </a:pPr>
            <a:r>
              <a:rPr lang="en-US" sz="4800" b="1">
                <a:solidFill>
                  <a:srgbClr val="434343"/>
                </a:solidFill>
                <a:latin typeface="Times New Roman Bold"/>
                <a:ea typeface="Times New Roman Bold"/>
                <a:cs typeface="Times New Roman Bold"/>
                <a:sym typeface="Times New Roman Bold"/>
              </a:rPr>
              <a:t>Tools and Technology Expected Outcomes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619420" y="321549"/>
            <a:ext cx="7049160"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ABOUT THE PROJECT</a:t>
            </a:r>
          </a:p>
        </p:txBody>
      </p:sp>
      <p:sp>
        <p:nvSpPr>
          <p:cNvPr id="3" name="Freeform 3"/>
          <p:cNvSpPr/>
          <p:nvPr/>
        </p:nvSpPr>
        <p:spPr>
          <a:xfrm>
            <a:off x="-126997" y="1534224"/>
            <a:ext cx="18541994" cy="8870924"/>
          </a:xfrm>
          <a:custGeom>
            <a:avLst/>
            <a:gdLst/>
            <a:ahLst/>
            <a:cxnLst/>
            <a:rect l="l" t="t" r="r" b="b"/>
            <a:pathLst>
              <a:path w="18541994" h="8870924">
                <a:moveTo>
                  <a:pt x="0" y="0"/>
                </a:moveTo>
                <a:lnTo>
                  <a:pt x="18541994" y="0"/>
                </a:lnTo>
                <a:lnTo>
                  <a:pt x="18541994" y="8870924"/>
                </a:lnTo>
                <a:lnTo>
                  <a:pt x="0" y="8870924"/>
                </a:lnTo>
                <a:lnTo>
                  <a:pt x="0" y="0"/>
                </a:lnTo>
                <a:close/>
              </a:path>
            </a:pathLst>
          </a:custGeom>
          <a:blipFill>
            <a:blip r:embed="rId2">
              <a:extLst>
                <a:ext uri="{96DAC541-7B7A-43D3-8B79-37D633B846F1}">
                  <asvg:svgBlip xmlns:asvg="http://schemas.microsoft.com/office/drawing/2016/SVG/main" r:embed="rId3"/>
                </a:ext>
              </a:extLst>
            </a:blip>
            <a:stretch>
              <a:fillRect t="-17294"/>
            </a:stretch>
          </a:blipFill>
        </p:spPr>
        <p:txBody>
          <a:bodyPr/>
          <a:lstStyle/>
          <a:p>
            <a:endParaRPr lang="en-IN"/>
          </a:p>
        </p:txBody>
      </p:sp>
      <p:sp>
        <p:nvSpPr>
          <p:cNvPr id="4" name="TextBox 4"/>
          <p:cNvSpPr txBox="1"/>
          <p:nvPr/>
        </p:nvSpPr>
        <p:spPr>
          <a:xfrm>
            <a:off x="1028700" y="1758420"/>
            <a:ext cx="15729745" cy="5033010"/>
          </a:xfrm>
          <a:prstGeom prst="rect">
            <a:avLst/>
          </a:prstGeom>
        </p:spPr>
        <p:txBody>
          <a:bodyPr lIns="0" tIns="0" rIns="0" bIns="0" rtlCol="0" anchor="t">
            <a:spAutoFit/>
          </a:bodyPr>
          <a:lstStyle/>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In medical emergencies, every second counts. Doctors often face delays in accessing a patient’s previous medical history. Lack of quick access may result in wrong medication, overdose or delayed treatment.</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MediScan AI aims to bridge this gap using instant patient data retrieval, ensuring timely and accurate medical decisions.</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Doctors can retrieve patient data via health ID, phone number, name or photo.</a:t>
            </a:r>
          </a:p>
          <a:p>
            <a:pPr marL="777240" lvl="1" indent="-388620" algn="l">
              <a:lnSpc>
                <a:spcPts val="5040"/>
              </a:lnSpc>
              <a:buFont typeface="Arial"/>
              <a:buChar char="•"/>
            </a:pPr>
            <a:r>
              <a:rPr lang="en-US" sz="3600">
                <a:solidFill>
                  <a:srgbClr val="000000"/>
                </a:solidFill>
                <a:latin typeface="Times New Roman"/>
                <a:ea typeface="Times New Roman"/>
                <a:cs typeface="Times New Roman"/>
                <a:sym typeface="Times New Roman"/>
              </a:rPr>
              <a:t>Uses AI modules including face recognition, medical history summarization, and risk prediction.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1266" y="1469211"/>
            <a:ext cx="18530532" cy="8977043"/>
          </a:xfrm>
          <a:custGeom>
            <a:avLst/>
            <a:gdLst/>
            <a:ahLst/>
            <a:cxnLst/>
            <a:rect l="l" t="t" r="r" b="b"/>
            <a:pathLst>
              <a:path w="18530532" h="8977043">
                <a:moveTo>
                  <a:pt x="0" y="0"/>
                </a:moveTo>
                <a:lnTo>
                  <a:pt x="18530532" y="0"/>
                </a:lnTo>
                <a:lnTo>
                  <a:pt x="18530532" y="8977043"/>
                </a:lnTo>
                <a:lnTo>
                  <a:pt x="0" y="8977043"/>
                </a:lnTo>
                <a:lnTo>
                  <a:pt x="0" y="0"/>
                </a:lnTo>
                <a:close/>
              </a:path>
            </a:pathLst>
          </a:custGeom>
          <a:blipFill>
            <a:blip r:embed="rId2">
              <a:extLst>
                <a:ext uri="{96DAC541-7B7A-43D3-8B79-37D633B846F1}">
                  <asvg:svgBlip xmlns:asvg="http://schemas.microsoft.com/office/drawing/2016/SVG/main" r:embed="rId3"/>
                </a:ext>
              </a:extLst>
            </a:blip>
            <a:stretch>
              <a:fillRect t="-15251"/>
            </a:stretch>
          </a:blipFill>
        </p:spPr>
        <p:txBody>
          <a:bodyPr/>
          <a:lstStyle/>
          <a:p>
            <a:endParaRPr lang="en-IN"/>
          </a:p>
        </p:txBody>
      </p:sp>
      <p:sp>
        <p:nvSpPr>
          <p:cNvPr id="3" name="TextBox 3"/>
          <p:cNvSpPr txBox="1"/>
          <p:nvPr/>
        </p:nvSpPr>
        <p:spPr>
          <a:xfrm>
            <a:off x="6994250" y="294928"/>
            <a:ext cx="4299500"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MOTIVATION</a:t>
            </a:r>
          </a:p>
        </p:txBody>
      </p:sp>
      <p:sp>
        <p:nvSpPr>
          <p:cNvPr id="4" name="TextBox 4"/>
          <p:cNvSpPr txBox="1"/>
          <p:nvPr/>
        </p:nvSpPr>
        <p:spPr>
          <a:xfrm>
            <a:off x="1028700" y="1053118"/>
            <a:ext cx="16230600" cy="7218043"/>
          </a:xfrm>
          <a:prstGeom prst="rect">
            <a:avLst/>
          </a:prstGeom>
        </p:spPr>
        <p:txBody>
          <a:bodyPr lIns="0" tIns="0" rIns="0" bIns="0" rtlCol="0" anchor="t">
            <a:spAutoFit/>
          </a:bodyPr>
          <a:lstStyle/>
          <a:p>
            <a:pPr algn="just">
              <a:lnSpc>
                <a:spcPts val="5760"/>
              </a:lnSpc>
            </a:pPr>
            <a:r>
              <a:rPr lang="en-US" sz="3600" b="1">
                <a:solidFill>
                  <a:srgbClr val="000000"/>
                </a:solidFill>
                <a:latin typeface="Times New Roman Bold"/>
                <a:ea typeface="Times New Roman Bold"/>
                <a:cs typeface="Times New Roman Bold"/>
                <a:sym typeface="Times New Roman Bold"/>
              </a:rPr>
              <a:t>Why did we build this?</a:t>
            </a:r>
          </a:p>
          <a:p>
            <a:pPr algn="just">
              <a:lnSpc>
                <a:spcPts val="5760"/>
              </a:lnSpc>
            </a:pPr>
            <a:r>
              <a:rPr lang="en-US" sz="3600">
                <a:solidFill>
                  <a:srgbClr val="000000"/>
                </a:solidFill>
                <a:latin typeface="Times New Roman"/>
                <a:ea typeface="Times New Roman"/>
                <a:cs typeface="Times New Roman"/>
                <a:sym typeface="Times New Roman"/>
              </a:rPr>
              <a:t>"In a busy Emergency Room(ER), a doctor received an unconscious patient with no ID or medical history. Gathering information manually delayed treatment, risking complications. MediScan AI could have instantly identified the patient, summarized their history, and highlighted critical risks."</a:t>
            </a:r>
          </a:p>
          <a:p>
            <a:pPr algn="just">
              <a:lnSpc>
                <a:spcPts val="5760"/>
              </a:lnSpc>
            </a:pPr>
            <a:r>
              <a:rPr lang="en-US" sz="3600" b="1">
                <a:solidFill>
                  <a:srgbClr val="000000"/>
                </a:solidFill>
                <a:latin typeface="Times New Roman Bold"/>
                <a:ea typeface="Times New Roman Bold"/>
                <a:cs typeface="Times New Roman Bold"/>
                <a:sym typeface="Times New Roman Bold"/>
              </a:rPr>
              <a:t>Key Points:</a:t>
            </a:r>
          </a:p>
          <a:p>
            <a:pPr marL="777250" lvl="1" indent="-388625" algn="just">
              <a:lnSpc>
                <a:spcPts val="5760"/>
              </a:lnSpc>
              <a:buFont typeface="Arial"/>
              <a:buChar char="•"/>
            </a:pPr>
            <a:r>
              <a:rPr lang="en-US" sz="3600">
                <a:solidFill>
                  <a:srgbClr val="000000"/>
                </a:solidFill>
                <a:latin typeface="Times New Roman"/>
                <a:ea typeface="Times New Roman"/>
                <a:cs typeface="Times New Roman"/>
                <a:sym typeface="Times New Roman"/>
              </a:rPr>
              <a:t>Emergency situations require instant access to patient information.</a:t>
            </a:r>
          </a:p>
          <a:p>
            <a:pPr marL="777250" lvl="1" indent="-388625" algn="just">
              <a:lnSpc>
                <a:spcPts val="5760"/>
              </a:lnSpc>
              <a:buFont typeface="Arial"/>
              <a:buChar char="•"/>
            </a:pPr>
            <a:r>
              <a:rPr lang="en-US" sz="3600">
                <a:solidFill>
                  <a:srgbClr val="000000"/>
                </a:solidFill>
                <a:latin typeface="Times New Roman"/>
                <a:ea typeface="Times New Roman"/>
                <a:cs typeface="Times New Roman"/>
                <a:sym typeface="Times New Roman"/>
              </a:rPr>
              <a:t>Current systems often have scattered or delayed records, increasing medical errors.</a:t>
            </a:r>
          </a:p>
          <a:p>
            <a:pPr marL="777250" lvl="1" indent="-388625" algn="just">
              <a:lnSpc>
                <a:spcPts val="5760"/>
              </a:lnSpc>
              <a:buFont typeface="Arial"/>
              <a:buChar char="•"/>
            </a:pPr>
            <a:r>
              <a:rPr lang="en-US" sz="3600">
                <a:solidFill>
                  <a:srgbClr val="000000"/>
                </a:solidFill>
                <a:latin typeface="Times New Roman"/>
                <a:ea typeface="Times New Roman"/>
                <a:cs typeface="Times New Roman"/>
                <a:sym typeface="Times New Roman"/>
              </a:rPr>
              <a:t>AI can summarize medical history and predict risks.</a:t>
            </a:r>
          </a:p>
          <a:p>
            <a:pPr marL="777250" lvl="1" indent="-388625" algn="just">
              <a:lnSpc>
                <a:spcPts val="5760"/>
              </a:lnSpc>
              <a:buFont typeface="Arial"/>
              <a:buChar char="•"/>
            </a:pPr>
            <a:r>
              <a:rPr lang="en-US" sz="3600">
                <a:solidFill>
                  <a:srgbClr val="000000"/>
                </a:solidFill>
                <a:latin typeface="Times New Roman"/>
                <a:ea typeface="Times New Roman"/>
                <a:cs typeface="Times New Roman"/>
                <a:sym typeface="Times New Roman"/>
              </a:rPr>
              <a:t>Reduce response time, ensure accurate treatment and save lives.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6997" y="1622273"/>
            <a:ext cx="18541994" cy="8844974"/>
          </a:xfrm>
          <a:custGeom>
            <a:avLst/>
            <a:gdLst/>
            <a:ahLst/>
            <a:cxnLst/>
            <a:rect l="l" t="t" r="r" b="b"/>
            <a:pathLst>
              <a:path w="18541994" h="8844974">
                <a:moveTo>
                  <a:pt x="0" y="0"/>
                </a:moveTo>
                <a:lnTo>
                  <a:pt x="18541994" y="0"/>
                </a:lnTo>
                <a:lnTo>
                  <a:pt x="18541994" y="8844974"/>
                </a:lnTo>
                <a:lnTo>
                  <a:pt x="0" y="8844974"/>
                </a:lnTo>
                <a:lnTo>
                  <a:pt x="0" y="0"/>
                </a:lnTo>
                <a:close/>
              </a:path>
            </a:pathLst>
          </a:custGeom>
          <a:blipFill>
            <a:blip r:embed="rId2">
              <a:extLst>
                <a:ext uri="{96DAC541-7B7A-43D3-8B79-37D633B846F1}">
                  <asvg:svgBlip xmlns:asvg="http://schemas.microsoft.com/office/drawing/2016/SVG/main" r:embed="rId3"/>
                </a:ext>
              </a:extLst>
            </a:blip>
            <a:stretch>
              <a:fillRect t="-14961"/>
            </a:stretch>
          </a:blipFill>
        </p:spPr>
        <p:txBody>
          <a:bodyPr/>
          <a:lstStyle/>
          <a:p>
            <a:endParaRPr lang="en-IN"/>
          </a:p>
        </p:txBody>
      </p:sp>
      <p:sp>
        <p:nvSpPr>
          <p:cNvPr id="3" name="Freeform 3"/>
          <p:cNvSpPr/>
          <p:nvPr/>
        </p:nvSpPr>
        <p:spPr>
          <a:xfrm>
            <a:off x="13921400" y="1893220"/>
            <a:ext cx="3337900" cy="3250280"/>
          </a:xfrm>
          <a:custGeom>
            <a:avLst/>
            <a:gdLst/>
            <a:ahLst/>
            <a:cxnLst/>
            <a:rect l="l" t="t" r="r" b="b"/>
            <a:pathLst>
              <a:path w="3337900" h="3250280">
                <a:moveTo>
                  <a:pt x="0" y="0"/>
                </a:moveTo>
                <a:lnTo>
                  <a:pt x="3337900" y="0"/>
                </a:lnTo>
                <a:lnTo>
                  <a:pt x="3337900" y="3250280"/>
                </a:lnTo>
                <a:lnTo>
                  <a:pt x="0" y="3250280"/>
                </a:lnTo>
                <a:lnTo>
                  <a:pt x="0" y="0"/>
                </a:lnTo>
                <a:close/>
              </a:path>
            </a:pathLst>
          </a:custGeom>
          <a:blipFill>
            <a:blip r:embed="rId4"/>
            <a:stretch>
              <a:fillRect/>
            </a:stretch>
          </a:blipFill>
        </p:spPr>
        <p:txBody>
          <a:bodyPr/>
          <a:lstStyle/>
          <a:p>
            <a:endParaRPr lang="en-IN"/>
          </a:p>
        </p:txBody>
      </p:sp>
      <p:sp>
        <p:nvSpPr>
          <p:cNvPr id="4" name="Freeform 4"/>
          <p:cNvSpPr/>
          <p:nvPr/>
        </p:nvSpPr>
        <p:spPr>
          <a:xfrm>
            <a:off x="1493438" y="5742361"/>
            <a:ext cx="2714747" cy="2714747"/>
          </a:xfrm>
          <a:custGeom>
            <a:avLst/>
            <a:gdLst/>
            <a:ahLst/>
            <a:cxnLst/>
            <a:rect l="l" t="t" r="r" b="b"/>
            <a:pathLst>
              <a:path w="2714747" h="2714747">
                <a:moveTo>
                  <a:pt x="0" y="0"/>
                </a:moveTo>
                <a:lnTo>
                  <a:pt x="2714748" y="0"/>
                </a:lnTo>
                <a:lnTo>
                  <a:pt x="2714748" y="2714747"/>
                </a:lnTo>
                <a:lnTo>
                  <a:pt x="0" y="2714747"/>
                </a:lnTo>
                <a:lnTo>
                  <a:pt x="0" y="0"/>
                </a:lnTo>
                <a:close/>
              </a:path>
            </a:pathLst>
          </a:custGeom>
          <a:blipFill>
            <a:blip r:embed="rId5"/>
            <a:stretch>
              <a:fillRect/>
            </a:stretch>
          </a:blipFill>
        </p:spPr>
        <p:txBody>
          <a:bodyPr/>
          <a:lstStyle/>
          <a:p>
            <a:endParaRPr lang="en-IN"/>
          </a:p>
        </p:txBody>
      </p:sp>
      <p:sp>
        <p:nvSpPr>
          <p:cNvPr id="5" name="Freeform 5"/>
          <p:cNvSpPr/>
          <p:nvPr/>
        </p:nvSpPr>
        <p:spPr>
          <a:xfrm>
            <a:off x="5659412" y="5742361"/>
            <a:ext cx="2714747" cy="2714747"/>
          </a:xfrm>
          <a:custGeom>
            <a:avLst/>
            <a:gdLst/>
            <a:ahLst/>
            <a:cxnLst/>
            <a:rect l="l" t="t" r="r" b="b"/>
            <a:pathLst>
              <a:path w="2714747" h="2714747">
                <a:moveTo>
                  <a:pt x="0" y="0"/>
                </a:moveTo>
                <a:lnTo>
                  <a:pt x="2714748" y="0"/>
                </a:lnTo>
                <a:lnTo>
                  <a:pt x="2714748" y="2714747"/>
                </a:lnTo>
                <a:lnTo>
                  <a:pt x="0" y="2714747"/>
                </a:lnTo>
                <a:lnTo>
                  <a:pt x="0" y="0"/>
                </a:lnTo>
                <a:close/>
              </a:path>
            </a:pathLst>
          </a:custGeom>
          <a:blipFill>
            <a:blip r:embed="rId6"/>
            <a:stretch>
              <a:fillRect/>
            </a:stretch>
          </a:blipFill>
        </p:spPr>
        <p:txBody>
          <a:bodyPr/>
          <a:lstStyle/>
          <a:p>
            <a:endParaRPr lang="en-IN"/>
          </a:p>
        </p:txBody>
      </p:sp>
      <p:sp>
        <p:nvSpPr>
          <p:cNvPr id="6" name="TextBox 6"/>
          <p:cNvSpPr txBox="1"/>
          <p:nvPr/>
        </p:nvSpPr>
        <p:spPr>
          <a:xfrm>
            <a:off x="6154969" y="140894"/>
            <a:ext cx="5978061"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EXISTING SYSTEM</a:t>
            </a:r>
          </a:p>
        </p:txBody>
      </p:sp>
      <p:sp>
        <p:nvSpPr>
          <p:cNvPr id="7" name="TextBox 7"/>
          <p:cNvSpPr txBox="1"/>
          <p:nvPr/>
        </p:nvSpPr>
        <p:spPr>
          <a:xfrm>
            <a:off x="1028700" y="1731295"/>
            <a:ext cx="11563596" cy="3598543"/>
          </a:xfrm>
          <a:prstGeom prst="rect">
            <a:avLst/>
          </a:prstGeom>
        </p:spPr>
        <p:txBody>
          <a:bodyPr lIns="0" tIns="0" rIns="0" bIns="0" rtlCol="0" anchor="t">
            <a:spAutoFit/>
          </a:bodyPr>
          <a:lstStyle/>
          <a:p>
            <a:pPr marL="777250" lvl="1" indent="-388625" algn="just">
              <a:lnSpc>
                <a:spcPts val="5760"/>
              </a:lnSpc>
              <a:buFont typeface="Arial"/>
              <a:buChar char="•"/>
            </a:pPr>
            <a:r>
              <a:rPr lang="en-US" sz="3600">
                <a:solidFill>
                  <a:srgbClr val="000000"/>
                </a:solidFill>
                <a:latin typeface="Times New Roman"/>
                <a:ea typeface="Times New Roman"/>
                <a:cs typeface="Times New Roman"/>
                <a:sym typeface="Times New Roman"/>
              </a:rPr>
              <a:t>Current hospital systems use separate, isolated databases.</a:t>
            </a:r>
          </a:p>
          <a:p>
            <a:pPr marL="777250" lvl="1" indent="-388625" algn="just">
              <a:lnSpc>
                <a:spcPts val="5760"/>
              </a:lnSpc>
              <a:buFont typeface="Arial"/>
              <a:buChar char="•"/>
            </a:pPr>
            <a:r>
              <a:rPr lang="en-US" sz="3600">
                <a:solidFill>
                  <a:srgbClr val="000000"/>
                </a:solidFill>
                <a:latin typeface="Times New Roman"/>
                <a:ea typeface="Times New Roman"/>
                <a:cs typeface="Times New Roman"/>
                <a:sym typeface="Times New Roman"/>
              </a:rPr>
              <a:t>Manual searches are slow and error-prone.</a:t>
            </a:r>
          </a:p>
          <a:p>
            <a:pPr marL="777250" lvl="1" indent="-388625" algn="just">
              <a:lnSpc>
                <a:spcPts val="5760"/>
              </a:lnSpc>
              <a:buFont typeface="Arial"/>
              <a:buChar char="•"/>
            </a:pPr>
            <a:r>
              <a:rPr lang="en-US" sz="3600">
                <a:solidFill>
                  <a:srgbClr val="000000"/>
                </a:solidFill>
                <a:latin typeface="Times New Roman"/>
                <a:ea typeface="Times New Roman"/>
                <a:cs typeface="Times New Roman"/>
                <a:sym typeface="Times New Roman"/>
              </a:rPr>
              <a:t>No AI-based data summarization.</a:t>
            </a:r>
          </a:p>
          <a:p>
            <a:pPr marL="777250" lvl="1" indent="-388625" algn="just">
              <a:lnSpc>
                <a:spcPts val="5760"/>
              </a:lnSpc>
              <a:buFont typeface="Arial"/>
              <a:buChar char="•"/>
            </a:pPr>
            <a:r>
              <a:rPr lang="en-US" sz="3600">
                <a:solidFill>
                  <a:srgbClr val="000000"/>
                </a:solidFill>
                <a:latin typeface="Times New Roman"/>
                <a:ea typeface="Times New Roman"/>
                <a:cs typeface="Times New Roman"/>
                <a:sym typeface="Times New Roman"/>
              </a:rPr>
              <a:t>Emergency staff depend on patients or families for details.</a:t>
            </a:r>
          </a:p>
          <a:p>
            <a:pPr marL="777250" lvl="1" indent="-388625" algn="just">
              <a:lnSpc>
                <a:spcPts val="5760"/>
              </a:lnSpc>
              <a:buFont typeface="Arial"/>
              <a:buChar char="•"/>
            </a:pPr>
            <a:r>
              <a:rPr lang="en-US" sz="3600">
                <a:solidFill>
                  <a:srgbClr val="000000"/>
                </a:solidFill>
                <a:latin typeface="Times New Roman"/>
                <a:ea typeface="Times New Roman"/>
                <a:cs typeface="Times New Roman"/>
                <a:sym typeface="Times New Roman"/>
              </a:rPr>
              <a:t>Missing or incorrect information can risk lives.</a:t>
            </a:r>
          </a:p>
        </p:txBody>
      </p:sp>
      <p:sp>
        <p:nvSpPr>
          <p:cNvPr id="8" name="TextBox 8"/>
          <p:cNvSpPr txBox="1"/>
          <p:nvPr/>
        </p:nvSpPr>
        <p:spPr>
          <a:xfrm>
            <a:off x="1789568" y="8361858"/>
            <a:ext cx="2122488" cy="632460"/>
          </a:xfrm>
          <a:prstGeom prst="rect">
            <a:avLst/>
          </a:prstGeom>
        </p:spPr>
        <p:txBody>
          <a:bodyPr lIns="0" tIns="0" rIns="0" bIns="0" rtlCol="0" anchor="t">
            <a:spAutoFit/>
          </a:bodyPr>
          <a:lstStyle/>
          <a:p>
            <a:pPr algn="ctr">
              <a:lnSpc>
                <a:spcPts val="5040"/>
              </a:lnSpc>
              <a:spcBef>
                <a:spcPct val="0"/>
              </a:spcBef>
            </a:pPr>
            <a:r>
              <a:rPr lang="en-US" sz="3600" b="1">
                <a:solidFill>
                  <a:srgbClr val="000000"/>
                </a:solidFill>
                <a:latin typeface="Times New Roman Bold"/>
                <a:ea typeface="Times New Roman Bold"/>
                <a:cs typeface="Times New Roman Bold"/>
                <a:sym typeface="Times New Roman Bold"/>
              </a:rPr>
              <a:t>Driefcase</a:t>
            </a:r>
          </a:p>
        </p:txBody>
      </p:sp>
      <p:sp>
        <p:nvSpPr>
          <p:cNvPr id="9" name="TextBox 9"/>
          <p:cNvSpPr txBox="1"/>
          <p:nvPr/>
        </p:nvSpPr>
        <p:spPr>
          <a:xfrm>
            <a:off x="5282392" y="8361858"/>
            <a:ext cx="3861599" cy="632460"/>
          </a:xfrm>
          <a:prstGeom prst="rect">
            <a:avLst/>
          </a:prstGeom>
        </p:spPr>
        <p:txBody>
          <a:bodyPr lIns="0" tIns="0" rIns="0" bIns="0" rtlCol="0" anchor="t">
            <a:spAutoFit/>
          </a:bodyPr>
          <a:lstStyle/>
          <a:p>
            <a:pPr algn="ctr">
              <a:lnSpc>
                <a:spcPts val="5040"/>
              </a:lnSpc>
              <a:spcBef>
                <a:spcPct val="0"/>
              </a:spcBef>
            </a:pPr>
            <a:r>
              <a:rPr lang="en-US" sz="3600" b="1">
                <a:solidFill>
                  <a:srgbClr val="000000"/>
                </a:solidFill>
                <a:latin typeface="Times New Roman Bold"/>
                <a:ea typeface="Times New Roman Bold"/>
                <a:cs typeface="Times New Roman Bold"/>
                <a:sym typeface="Times New Roman Bold"/>
              </a:rPr>
              <a:t>Medical Report AI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831805" y="516255"/>
            <a:ext cx="6624390"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PROPOSED SYSTEM</a:t>
            </a:r>
          </a:p>
        </p:txBody>
      </p:sp>
      <p:sp>
        <p:nvSpPr>
          <p:cNvPr id="3" name="Freeform 3"/>
          <p:cNvSpPr/>
          <p:nvPr/>
        </p:nvSpPr>
        <p:spPr>
          <a:xfrm>
            <a:off x="-126997" y="7711973"/>
            <a:ext cx="18541994" cy="2733656"/>
          </a:xfrm>
          <a:custGeom>
            <a:avLst/>
            <a:gdLst/>
            <a:ahLst/>
            <a:cxnLst/>
            <a:rect l="l" t="t" r="r" b="b"/>
            <a:pathLst>
              <a:path w="18541994" h="2733656">
                <a:moveTo>
                  <a:pt x="0" y="0"/>
                </a:moveTo>
                <a:lnTo>
                  <a:pt x="18541994" y="0"/>
                </a:lnTo>
                <a:lnTo>
                  <a:pt x="18541994"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1028700" y="1810684"/>
            <a:ext cx="16230600" cy="5661660"/>
          </a:xfrm>
          <a:prstGeom prst="rect">
            <a:avLst/>
          </a:prstGeom>
        </p:spPr>
        <p:txBody>
          <a:bodyPr lIns="0" tIns="0" rIns="0" bIns="0" rtlCol="0" anchor="t">
            <a:spAutoFit/>
          </a:bodyPr>
          <a:lstStyle/>
          <a:p>
            <a:pPr algn="just">
              <a:lnSpc>
                <a:spcPts val="5040"/>
              </a:lnSpc>
            </a:pPr>
            <a:r>
              <a:rPr lang="en-US" sz="3600" b="1">
                <a:solidFill>
                  <a:srgbClr val="000000"/>
                </a:solidFill>
                <a:latin typeface="Times New Roman Bold"/>
                <a:ea typeface="Times New Roman Bold"/>
                <a:cs typeface="Times New Roman Bold"/>
                <a:sym typeface="Times New Roman Bold"/>
              </a:rPr>
              <a:t>Overview:</a:t>
            </a:r>
          </a:p>
          <a:p>
            <a:pPr marL="777240" lvl="1" indent="-388620" algn="just">
              <a:lnSpc>
                <a:spcPts val="5040"/>
              </a:lnSpc>
              <a:buFont typeface="Arial"/>
              <a:buChar char="•"/>
            </a:pPr>
            <a:r>
              <a:rPr lang="en-US" sz="3600" b="1">
                <a:solidFill>
                  <a:srgbClr val="000000"/>
                </a:solidFill>
                <a:latin typeface="Times New Roman Bold"/>
                <a:ea typeface="Times New Roman Bold"/>
                <a:cs typeface="Times New Roman Bold"/>
                <a:sym typeface="Times New Roman Bold"/>
              </a:rPr>
              <a:t> </a:t>
            </a:r>
            <a:r>
              <a:rPr lang="en-US" sz="3600">
                <a:solidFill>
                  <a:srgbClr val="000000"/>
                </a:solidFill>
                <a:latin typeface="Times New Roman"/>
                <a:ea typeface="Times New Roman"/>
                <a:cs typeface="Times New Roman"/>
                <a:sym typeface="Times New Roman"/>
              </a:rPr>
              <a:t>Enable faster, safer treatment by delivering critical patient information in real time.</a:t>
            </a:r>
          </a:p>
          <a:p>
            <a:pPr algn="just">
              <a:lnSpc>
                <a:spcPts val="5040"/>
              </a:lnSpc>
            </a:pPr>
            <a:endParaRPr lang="en-US" sz="3600">
              <a:solidFill>
                <a:srgbClr val="000000"/>
              </a:solidFill>
              <a:latin typeface="Times New Roman"/>
              <a:ea typeface="Times New Roman"/>
              <a:cs typeface="Times New Roman"/>
              <a:sym typeface="Times New Roman"/>
            </a:endParaRPr>
          </a:p>
          <a:p>
            <a:pPr algn="just">
              <a:lnSpc>
                <a:spcPts val="5040"/>
              </a:lnSpc>
            </a:pPr>
            <a:r>
              <a:rPr lang="en-US" sz="3600" b="1">
                <a:solidFill>
                  <a:srgbClr val="000000"/>
                </a:solidFill>
                <a:latin typeface="Times New Roman Bold"/>
                <a:ea typeface="Times New Roman Bold"/>
                <a:cs typeface="Times New Roman Bold"/>
                <a:sym typeface="Times New Roman Bold"/>
              </a:rPr>
              <a:t>Key</a:t>
            </a:r>
            <a:r>
              <a:rPr lang="en-US" sz="3600" b="1" u="none">
                <a:solidFill>
                  <a:srgbClr val="000000"/>
                </a:solidFill>
                <a:latin typeface="Times New Roman Bold"/>
                <a:ea typeface="Times New Roman Bold"/>
                <a:cs typeface="Times New Roman Bold"/>
                <a:sym typeface="Times New Roman Bold"/>
              </a:rPr>
              <a:t> </a:t>
            </a:r>
            <a:r>
              <a:rPr lang="en-US" sz="3600" b="1">
                <a:solidFill>
                  <a:srgbClr val="000000"/>
                </a:solidFill>
                <a:latin typeface="Times New Roman Bold"/>
                <a:ea typeface="Times New Roman Bold"/>
                <a:cs typeface="Times New Roman Bold"/>
                <a:sym typeface="Times New Roman Bold"/>
              </a:rPr>
              <a:t>Feat</a:t>
            </a:r>
            <a:r>
              <a:rPr lang="en-US" sz="3600" b="1" u="none">
                <a:solidFill>
                  <a:srgbClr val="000000"/>
                </a:solidFill>
                <a:latin typeface="Times New Roman Bold"/>
                <a:ea typeface="Times New Roman Bold"/>
                <a:cs typeface="Times New Roman Bold"/>
                <a:sym typeface="Times New Roman Bold"/>
              </a:rPr>
              <a:t>u</a:t>
            </a:r>
            <a:r>
              <a:rPr lang="en-US" sz="3600" b="1">
                <a:solidFill>
                  <a:srgbClr val="000000"/>
                </a:solidFill>
                <a:latin typeface="Times New Roman Bold"/>
                <a:ea typeface="Times New Roman Bold"/>
                <a:cs typeface="Times New Roman Bold"/>
                <a:sym typeface="Times New Roman Bold"/>
              </a:rPr>
              <a:t>r</a:t>
            </a:r>
            <a:r>
              <a:rPr lang="en-US" sz="3600" b="1" u="none">
                <a:solidFill>
                  <a:srgbClr val="000000"/>
                </a:solidFill>
                <a:latin typeface="Times New Roman Bold"/>
                <a:ea typeface="Times New Roman Bold"/>
                <a:cs typeface="Times New Roman Bold"/>
                <a:sym typeface="Times New Roman Bold"/>
              </a:rPr>
              <a:t>es:</a:t>
            </a:r>
          </a:p>
          <a:p>
            <a:pPr marL="777240" lvl="1" indent="-388620" algn="just">
              <a:lnSpc>
                <a:spcPts val="5040"/>
              </a:lnSpc>
              <a:buFont typeface="Arial"/>
              <a:buChar char="•"/>
            </a:pPr>
            <a:r>
              <a:rPr lang="en-US" sz="3600">
                <a:solidFill>
                  <a:srgbClr val="000000"/>
                </a:solidFill>
                <a:latin typeface="Times New Roman"/>
                <a:ea typeface="Times New Roman"/>
                <a:cs typeface="Times New Roman"/>
                <a:sym typeface="Times New Roman"/>
              </a:rPr>
              <a:t>Retrieve patient history using health ID, phone number, name or photo.</a:t>
            </a:r>
          </a:p>
          <a:p>
            <a:pPr marL="777240" lvl="1" indent="-388620" algn="just">
              <a:lnSpc>
                <a:spcPts val="5040"/>
              </a:lnSpc>
              <a:buFont typeface="Arial"/>
              <a:buChar char="•"/>
            </a:pPr>
            <a:r>
              <a:rPr lang="en-US" sz="3600">
                <a:solidFill>
                  <a:srgbClr val="000000"/>
                </a:solidFill>
                <a:latin typeface="Times New Roman"/>
                <a:ea typeface="Times New Roman"/>
                <a:cs typeface="Times New Roman"/>
                <a:sym typeface="Times New Roman"/>
              </a:rPr>
              <a:t>AI-based face recognition for accurate patient identification.</a:t>
            </a:r>
          </a:p>
          <a:p>
            <a:pPr marL="777240" lvl="1" indent="-388620" algn="just">
              <a:lnSpc>
                <a:spcPts val="5040"/>
              </a:lnSpc>
              <a:buFont typeface="Arial"/>
              <a:buChar char="•"/>
            </a:pPr>
            <a:r>
              <a:rPr lang="en-US" sz="3600">
                <a:solidFill>
                  <a:srgbClr val="000000"/>
                </a:solidFill>
                <a:latin typeface="Times New Roman"/>
                <a:ea typeface="Times New Roman"/>
                <a:cs typeface="Times New Roman"/>
                <a:sym typeface="Times New Roman"/>
              </a:rPr>
              <a:t>Automatic summarization of medical records for actionable insights.</a:t>
            </a:r>
          </a:p>
          <a:p>
            <a:pPr marL="777240" lvl="1" indent="-388620" algn="just">
              <a:lnSpc>
                <a:spcPts val="5040"/>
              </a:lnSpc>
              <a:buFont typeface="Arial"/>
              <a:buChar char="•"/>
            </a:pPr>
            <a:r>
              <a:rPr lang="en-US" sz="3600">
                <a:solidFill>
                  <a:srgbClr val="000000"/>
                </a:solidFill>
                <a:latin typeface="Times New Roman"/>
                <a:ea typeface="Times New Roman"/>
                <a:cs typeface="Times New Roman"/>
                <a:sym typeface="Times New Roman"/>
              </a:rPr>
              <a:t>Emergency risk prediction to highlight critical health conditions.</a:t>
            </a:r>
          </a:p>
          <a:p>
            <a:pPr marL="777240" lvl="1" indent="-388620" algn="just">
              <a:lnSpc>
                <a:spcPts val="5040"/>
              </a:lnSpc>
              <a:buFont typeface="Arial"/>
              <a:buChar char="•"/>
            </a:pPr>
            <a:r>
              <a:rPr lang="en-US" sz="3600">
                <a:solidFill>
                  <a:srgbClr val="000000"/>
                </a:solidFill>
                <a:latin typeface="Times New Roman"/>
                <a:ea typeface="Times New Roman"/>
                <a:cs typeface="Times New Roman"/>
                <a:sym typeface="Times New Roman"/>
              </a:rPr>
              <a:t>Secure web and mobile access for doctors anytime.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50596" y="348169"/>
            <a:ext cx="7386807" cy="920115"/>
          </a:xfrm>
          <a:prstGeom prst="rect">
            <a:avLst/>
          </a:prstGeom>
        </p:spPr>
        <p:txBody>
          <a:bodyPr lIns="0" tIns="0" rIns="0" bIns="0" rtlCol="0" anchor="t">
            <a:spAutoFit/>
          </a:bodyPr>
          <a:lstStyle/>
          <a:p>
            <a:pPr algn="l">
              <a:lnSpc>
                <a:spcPts val="7559"/>
              </a:lnSpc>
            </a:pPr>
            <a:r>
              <a:rPr lang="en-US" sz="5400" b="1" u="sng">
                <a:solidFill>
                  <a:srgbClr val="2A3990"/>
                </a:solidFill>
                <a:latin typeface="Roboto Bold"/>
                <a:ea typeface="Roboto Bold"/>
                <a:cs typeface="Roboto Bold"/>
                <a:sym typeface="Roboto Bold"/>
              </a:rPr>
              <a:t>PROBLEM STATEMENT</a:t>
            </a:r>
          </a:p>
        </p:txBody>
      </p:sp>
      <p:sp>
        <p:nvSpPr>
          <p:cNvPr id="3" name="Freeform 3"/>
          <p:cNvSpPr/>
          <p:nvPr/>
        </p:nvSpPr>
        <p:spPr>
          <a:xfrm>
            <a:off x="-126997" y="7711973"/>
            <a:ext cx="18541994" cy="2733656"/>
          </a:xfrm>
          <a:custGeom>
            <a:avLst/>
            <a:gdLst/>
            <a:ahLst/>
            <a:cxnLst/>
            <a:rect l="l" t="t" r="r" b="b"/>
            <a:pathLst>
              <a:path w="18541994" h="2733656">
                <a:moveTo>
                  <a:pt x="0" y="0"/>
                </a:moveTo>
                <a:lnTo>
                  <a:pt x="18541994" y="0"/>
                </a:lnTo>
                <a:lnTo>
                  <a:pt x="18541994" y="2733656"/>
                </a:lnTo>
                <a:lnTo>
                  <a:pt x="0" y="2733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1028700" y="2077367"/>
            <a:ext cx="16230600" cy="2908168"/>
          </a:xfrm>
          <a:prstGeom prst="rect">
            <a:avLst/>
          </a:prstGeom>
        </p:spPr>
        <p:txBody>
          <a:bodyPr lIns="0" tIns="0" rIns="0" bIns="0" rtlCol="0" anchor="t">
            <a:spAutoFit/>
          </a:bodyPr>
          <a:lstStyle/>
          <a:p>
            <a:pPr algn="just">
              <a:lnSpc>
                <a:spcPts val="5760"/>
              </a:lnSpc>
            </a:pPr>
            <a:r>
              <a:rPr lang="en-US" sz="3600" dirty="0">
                <a:solidFill>
                  <a:srgbClr val="000000"/>
                </a:solidFill>
                <a:latin typeface="Times New Roman"/>
                <a:ea typeface="Times New Roman"/>
                <a:cs typeface="Times New Roman"/>
                <a:sym typeface="Times New Roman"/>
              </a:rPr>
              <a:t>   </a:t>
            </a:r>
            <a:r>
              <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3600" dirty="0">
                <a:latin typeface="Times New Roman" panose="02020603050405020304" pitchFamily="18" charset="0"/>
                <a:cs typeface="Times New Roman" panose="02020603050405020304" pitchFamily="18" charset="0"/>
              </a:rPr>
              <a:t>This platform provides doctors with instant access to patient medical history using phone number, name and place. AI modules summarize history and highlight emergency risks, ensuring faster, safer treatment and preventing loss of life due to inaccessible records.</a:t>
            </a:r>
            <a:endPar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72739" y="35166"/>
            <a:ext cx="17295209" cy="1469593"/>
          </a:xfrm>
          <a:custGeom>
            <a:avLst/>
            <a:gdLst/>
            <a:ahLst/>
            <a:cxnLst/>
            <a:rect l="l" t="t" r="r" b="b"/>
            <a:pathLst>
              <a:path w="17295209" h="1469593">
                <a:moveTo>
                  <a:pt x="0" y="0"/>
                </a:moveTo>
                <a:lnTo>
                  <a:pt x="17295209" y="0"/>
                </a:lnTo>
                <a:lnTo>
                  <a:pt x="17295209" y="1469594"/>
                </a:lnTo>
                <a:lnTo>
                  <a:pt x="0" y="14695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TextBox 4"/>
          <p:cNvSpPr txBox="1"/>
          <p:nvPr/>
        </p:nvSpPr>
        <p:spPr>
          <a:xfrm>
            <a:off x="4779074" y="261461"/>
            <a:ext cx="8442465" cy="922915"/>
          </a:xfrm>
          <a:prstGeom prst="rect">
            <a:avLst/>
          </a:prstGeom>
        </p:spPr>
        <p:txBody>
          <a:bodyPr lIns="0" tIns="0" rIns="0" bIns="0" rtlCol="0" anchor="t">
            <a:spAutoFit/>
          </a:bodyPr>
          <a:lstStyle/>
          <a:p>
            <a:pPr algn="l">
              <a:lnSpc>
                <a:spcPts val="7559"/>
              </a:lnSpc>
            </a:pPr>
            <a:r>
              <a:rPr lang="en-US" sz="5400" b="1">
                <a:solidFill>
                  <a:srgbClr val="2A3990"/>
                </a:solidFill>
                <a:latin typeface="Roboto Bold"/>
                <a:ea typeface="Roboto Bold"/>
                <a:cs typeface="Roboto Bold"/>
                <a:sym typeface="Roboto Bold"/>
              </a:rPr>
              <a:t>TOOLS AND TECHNOLOGY</a:t>
            </a:r>
          </a:p>
        </p:txBody>
      </p:sp>
      <p:sp>
        <p:nvSpPr>
          <p:cNvPr id="5" name="TextBox 5"/>
          <p:cNvSpPr txBox="1"/>
          <p:nvPr/>
        </p:nvSpPr>
        <p:spPr>
          <a:xfrm>
            <a:off x="1028700" y="1828219"/>
            <a:ext cx="15149620" cy="5128776"/>
          </a:xfrm>
          <a:prstGeom prst="rect">
            <a:avLst/>
          </a:prstGeom>
        </p:spPr>
        <p:txBody>
          <a:bodyPr lIns="0" tIns="0" rIns="0" bIns="0" rtlCol="0" anchor="t">
            <a:spAutoFit/>
          </a:bodyPr>
          <a:lstStyle/>
          <a:p>
            <a:pPr marL="777240" lvl="1" indent="-388620" algn="l">
              <a:lnSpc>
                <a:spcPts val="5760"/>
              </a:lnSpc>
              <a:buFont typeface="Arial"/>
              <a:buChar char="•"/>
            </a:pPr>
            <a:r>
              <a:rPr lang="en-US" sz="3600" b="1" dirty="0">
                <a:solidFill>
                  <a:srgbClr val="000000"/>
                </a:solidFill>
                <a:latin typeface="Times New Roman Bold"/>
                <a:ea typeface="Times New Roman Bold"/>
                <a:cs typeface="Times New Roman Bold"/>
                <a:sym typeface="Times New Roman Bold"/>
              </a:rPr>
              <a:t>Languages: </a:t>
            </a:r>
            <a:r>
              <a:rPr lang="en-US" sz="3600" dirty="0">
                <a:solidFill>
                  <a:srgbClr val="000000"/>
                </a:solidFill>
                <a:latin typeface="Times New Roman"/>
                <a:ea typeface="Times New Roman"/>
                <a:cs typeface="Times New Roman"/>
                <a:sym typeface="Times New Roman"/>
              </a:rPr>
              <a:t>Python, JavaScript.</a:t>
            </a:r>
            <a:r>
              <a:rPr lang="en-US" sz="3600" b="1" dirty="0">
                <a:solidFill>
                  <a:srgbClr val="000000"/>
                </a:solidFill>
                <a:latin typeface="Times New Roman Bold"/>
                <a:ea typeface="Times New Roman Bold"/>
                <a:cs typeface="Times New Roman Bold"/>
                <a:sym typeface="Times New Roman Bold"/>
              </a:rPr>
              <a:t> </a:t>
            </a:r>
          </a:p>
          <a:p>
            <a:pPr marL="777240" lvl="1" indent="-388620" algn="l">
              <a:lnSpc>
                <a:spcPts val="5760"/>
              </a:lnSpc>
              <a:buFont typeface="Arial"/>
              <a:buChar char="•"/>
            </a:pPr>
            <a:r>
              <a:rPr lang="en-US" sz="3600" b="1" dirty="0">
                <a:solidFill>
                  <a:srgbClr val="000000"/>
                </a:solidFill>
                <a:latin typeface="Times New Roman Bold"/>
                <a:ea typeface="Times New Roman Bold"/>
                <a:cs typeface="Times New Roman Bold"/>
                <a:sym typeface="Times New Roman Bold"/>
              </a:rPr>
              <a:t>Libraries/Frameworks: </a:t>
            </a:r>
            <a:r>
              <a:rPr lang="en-US" sz="3600" dirty="0">
                <a:solidFill>
                  <a:srgbClr val="000000"/>
                </a:solidFill>
                <a:latin typeface="Times New Roman"/>
                <a:ea typeface="Times New Roman"/>
                <a:cs typeface="Times New Roman"/>
                <a:sym typeface="Times New Roman"/>
              </a:rPr>
              <a:t>Tiny Face Detector (image processing), TensorFlow (AI models), Tesseract (OCR), </a:t>
            </a:r>
            <a:r>
              <a:rPr lang="en-US" sz="3600" dirty="0" err="1">
                <a:solidFill>
                  <a:srgbClr val="000000"/>
                </a:solidFill>
                <a:latin typeface="Times New Roman"/>
                <a:ea typeface="Times New Roman"/>
                <a:cs typeface="Times New Roman"/>
                <a:sym typeface="Times New Roman"/>
              </a:rPr>
              <a:t>MedCAT</a:t>
            </a:r>
            <a:r>
              <a:rPr lang="en-US" sz="3600" dirty="0">
                <a:solidFill>
                  <a:srgbClr val="000000"/>
                </a:solidFill>
                <a:latin typeface="Times New Roman"/>
                <a:ea typeface="Times New Roman"/>
                <a:cs typeface="Times New Roman"/>
                <a:sym typeface="Times New Roman"/>
              </a:rPr>
              <a:t>(AI Summarization) React.js &amp; React Native (web and mobile apps).</a:t>
            </a:r>
          </a:p>
          <a:p>
            <a:pPr marL="777240" lvl="1" indent="-388620" algn="l">
              <a:lnSpc>
                <a:spcPts val="5760"/>
              </a:lnSpc>
              <a:buFont typeface="Arial"/>
              <a:buChar char="•"/>
            </a:pPr>
            <a:r>
              <a:rPr lang="en-US" sz="3600" b="1" dirty="0">
                <a:solidFill>
                  <a:srgbClr val="000000"/>
                </a:solidFill>
                <a:latin typeface="Times New Roman Bold"/>
                <a:ea typeface="Times New Roman Bold"/>
                <a:cs typeface="Times New Roman Bold"/>
                <a:sym typeface="Times New Roman Bold"/>
              </a:rPr>
              <a:t>Data Base: </a:t>
            </a:r>
            <a:r>
              <a:rPr lang="en-US" sz="3600" dirty="0">
                <a:solidFill>
                  <a:srgbClr val="000000"/>
                </a:solidFill>
                <a:latin typeface="Times New Roman"/>
                <a:ea typeface="Times New Roman"/>
                <a:cs typeface="Times New Roman"/>
                <a:sym typeface="Times New Roman"/>
              </a:rPr>
              <a:t>MongoDB / MySQL for patient record storage and retrieval.</a:t>
            </a:r>
          </a:p>
          <a:p>
            <a:pPr marL="777240" lvl="1" indent="-388620" algn="l">
              <a:lnSpc>
                <a:spcPts val="5760"/>
              </a:lnSpc>
              <a:buFont typeface="Arial"/>
              <a:buChar char="•"/>
            </a:pPr>
            <a:r>
              <a:rPr lang="en-US" sz="3600" b="1" dirty="0">
                <a:solidFill>
                  <a:srgbClr val="000000"/>
                </a:solidFill>
                <a:latin typeface="Times New Roman Bold"/>
                <a:ea typeface="Times New Roman Bold"/>
                <a:cs typeface="Times New Roman Bold"/>
                <a:sym typeface="Times New Roman Bold"/>
              </a:rPr>
              <a:t>Hardware: </a:t>
            </a:r>
            <a:r>
              <a:rPr lang="en-US" sz="3600" dirty="0">
                <a:solidFill>
                  <a:srgbClr val="000000"/>
                </a:solidFill>
                <a:latin typeface="Times New Roman"/>
                <a:ea typeface="Times New Roman"/>
                <a:cs typeface="Times New Roman"/>
                <a:sym typeface="Times New Roman"/>
              </a:rPr>
              <a:t>Camera-enabled devices (smartphones, tablets, hospital systems).</a:t>
            </a:r>
          </a:p>
          <a:p>
            <a:pPr marL="777240" lvl="1" indent="-388620" algn="l">
              <a:lnSpc>
                <a:spcPts val="5760"/>
              </a:lnSpc>
              <a:buFont typeface="Arial"/>
              <a:buChar char="•"/>
            </a:pPr>
            <a:r>
              <a:rPr lang="en-US" sz="3600" b="1" dirty="0">
                <a:solidFill>
                  <a:srgbClr val="000000"/>
                </a:solidFill>
                <a:latin typeface="Times New Roman Bold"/>
                <a:ea typeface="Times New Roman Bold"/>
                <a:cs typeface="Times New Roman Bold"/>
                <a:sym typeface="Times New Roman Bold"/>
              </a:rPr>
              <a:t>Optional: </a:t>
            </a:r>
            <a:r>
              <a:rPr lang="en-US" sz="3600" dirty="0">
                <a:solidFill>
                  <a:srgbClr val="000000"/>
                </a:solidFill>
                <a:latin typeface="Times New Roman"/>
                <a:ea typeface="Times New Roman"/>
                <a:cs typeface="Times New Roman"/>
                <a:sym typeface="Times New Roman"/>
              </a:rPr>
              <a:t>Git/GitHub (version control)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22718" y="4528547"/>
            <a:ext cx="15015705" cy="1246499"/>
          </a:xfrm>
          <a:custGeom>
            <a:avLst/>
            <a:gdLst/>
            <a:ahLst/>
            <a:cxnLst/>
            <a:rect l="l" t="t" r="r" b="b"/>
            <a:pathLst>
              <a:path w="15015705" h="1246499">
                <a:moveTo>
                  <a:pt x="0" y="0"/>
                </a:moveTo>
                <a:lnTo>
                  <a:pt x="15015705" y="0"/>
                </a:lnTo>
                <a:lnTo>
                  <a:pt x="15015705" y="1246499"/>
                </a:lnTo>
                <a:lnTo>
                  <a:pt x="0" y="12464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391154" y="140418"/>
            <a:ext cx="17295190" cy="1469593"/>
          </a:xfrm>
          <a:custGeom>
            <a:avLst/>
            <a:gdLst/>
            <a:ahLst/>
            <a:cxnLst/>
            <a:rect l="l" t="t" r="r" b="b"/>
            <a:pathLst>
              <a:path w="17295190" h="1469593">
                <a:moveTo>
                  <a:pt x="0" y="0"/>
                </a:moveTo>
                <a:lnTo>
                  <a:pt x="17295190" y="0"/>
                </a:lnTo>
                <a:lnTo>
                  <a:pt x="17295190" y="1469593"/>
                </a:lnTo>
                <a:lnTo>
                  <a:pt x="0" y="1469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4" name="Freeform 4"/>
          <p:cNvSpPr/>
          <p:nvPr/>
        </p:nvSpPr>
        <p:spPr>
          <a:xfrm>
            <a:off x="-127006" y="7680331"/>
            <a:ext cx="18541994" cy="2733656"/>
          </a:xfrm>
          <a:custGeom>
            <a:avLst/>
            <a:gdLst/>
            <a:ahLst/>
            <a:cxnLst/>
            <a:rect l="l" t="t" r="r" b="b"/>
            <a:pathLst>
              <a:path w="18541994" h="2733656">
                <a:moveTo>
                  <a:pt x="0" y="0"/>
                </a:moveTo>
                <a:lnTo>
                  <a:pt x="18541993" y="0"/>
                </a:lnTo>
                <a:lnTo>
                  <a:pt x="18541993" y="2733656"/>
                </a:lnTo>
                <a:lnTo>
                  <a:pt x="0" y="27336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5" name="TextBox 5"/>
          <p:cNvSpPr txBox="1"/>
          <p:nvPr/>
        </p:nvSpPr>
        <p:spPr>
          <a:xfrm>
            <a:off x="5446166" y="366713"/>
            <a:ext cx="7323239" cy="922915"/>
          </a:xfrm>
          <a:prstGeom prst="rect">
            <a:avLst/>
          </a:prstGeom>
        </p:spPr>
        <p:txBody>
          <a:bodyPr lIns="0" tIns="0" rIns="0" bIns="0" rtlCol="0" anchor="t">
            <a:spAutoFit/>
          </a:bodyPr>
          <a:lstStyle/>
          <a:p>
            <a:pPr algn="l">
              <a:lnSpc>
                <a:spcPts val="7559"/>
              </a:lnSpc>
            </a:pPr>
            <a:r>
              <a:rPr lang="en-US" sz="5400" b="1">
                <a:solidFill>
                  <a:srgbClr val="2A3990"/>
                </a:solidFill>
                <a:latin typeface="Roboto Bold"/>
                <a:ea typeface="Roboto Bold"/>
                <a:cs typeface="Roboto Bold"/>
                <a:sym typeface="Roboto Bold"/>
              </a:rPr>
              <a:t>EXPECTED OUTCOMES</a:t>
            </a:r>
          </a:p>
        </p:txBody>
      </p:sp>
      <p:sp>
        <p:nvSpPr>
          <p:cNvPr id="6" name="TextBox 6"/>
          <p:cNvSpPr txBox="1"/>
          <p:nvPr/>
        </p:nvSpPr>
        <p:spPr>
          <a:xfrm>
            <a:off x="1028700" y="1514761"/>
            <a:ext cx="16230600" cy="6290309"/>
          </a:xfrm>
          <a:prstGeom prst="rect">
            <a:avLst/>
          </a:prstGeom>
        </p:spPr>
        <p:txBody>
          <a:bodyPr lIns="0" tIns="0" rIns="0" bIns="0" rtlCol="0" anchor="t">
            <a:spAutoFit/>
          </a:bodyPr>
          <a:lstStyle/>
          <a:p>
            <a:pPr marL="777250" lvl="1" indent="-388625" algn="just">
              <a:lnSpc>
                <a:spcPts val="5040"/>
              </a:lnSpc>
              <a:buFont typeface="Arial"/>
              <a:buChar char="•"/>
            </a:pPr>
            <a:r>
              <a:rPr lang="en-US" sz="3600">
                <a:solidFill>
                  <a:srgbClr val="000000"/>
                </a:solidFill>
                <a:latin typeface="Times New Roman"/>
                <a:ea typeface="Times New Roman"/>
                <a:cs typeface="Times New Roman"/>
                <a:sym typeface="Times New Roman"/>
              </a:rPr>
              <a:t>A fully functional Django-based web and mobile application for healthcare professionals to access patient records instantly.</a:t>
            </a:r>
          </a:p>
          <a:p>
            <a:pPr marL="777250" lvl="1" indent="-388625" algn="just">
              <a:lnSpc>
                <a:spcPts val="5040"/>
              </a:lnSpc>
              <a:buFont typeface="Arial"/>
              <a:buChar char="•"/>
            </a:pPr>
            <a:r>
              <a:rPr lang="en-US" sz="3600">
                <a:solidFill>
                  <a:srgbClr val="000000"/>
                </a:solidFill>
                <a:latin typeface="Times New Roman"/>
                <a:ea typeface="Times New Roman"/>
                <a:cs typeface="Times New Roman"/>
                <a:sym typeface="Times New Roman"/>
              </a:rPr>
              <a:t>AI-powered summarization of medical history for quick understanding of critical health information.</a:t>
            </a:r>
          </a:p>
          <a:p>
            <a:pPr marL="777250" lvl="1" indent="-388625" algn="just">
              <a:lnSpc>
                <a:spcPts val="5040"/>
              </a:lnSpc>
              <a:buFont typeface="Arial"/>
              <a:buChar char="•"/>
            </a:pPr>
            <a:r>
              <a:rPr lang="en-US" sz="3600">
                <a:solidFill>
                  <a:srgbClr val="000000"/>
                </a:solidFill>
                <a:latin typeface="Times New Roman"/>
                <a:ea typeface="Times New Roman"/>
                <a:cs typeface="Times New Roman"/>
                <a:sym typeface="Times New Roman"/>
              </a:rPr>
              <a:t>Faster and safer treatment decisions through instant retrieval of patient data and emergency alerts.</a:t>
            </a:r>
          </a:p>
          <a:p>
            <a:pPr marL="777250" lvl="1" indent="-388625" algn="just">
              <a:lnSpc>
                <a:spcPts val="5040"/>
              </a:lnSpc>
              <a:buFont typeface="Arial"/>
              <a:buChar char="•"/>
            </a:pPr>
            <a:r>
              <a:rPr lang="en-US" sz="3600">
                <a:solidFill>
                  <a:srgbClr val="000000"/>
                </a:solidFill>
                <a:latin typeface="Times New Roman"/>
                <a:ea typeface="Times New Roman"/>
                <a:cs typeface="Times New Roman"/>
                <a:sym typeface="Times New Roman"/>
              </a:rPr>
              <a:t>Reduced medical errors by providing accurate, real-time and comprehensive patient information.</a:t>
            </a:r>
          </a:p>
          <a:p>
            <a:pPr marL="777250" lvl="1" indent="-388625" algn="just">
              <a:lnSpc>
                <a:spcPts val="5040"/>
              </a:lnSpc>
              <a:buFont typeface="Arial"/>
              <a:buChar char="•"/>
            </a:pPr>
            <a:r>
              <a:rPr lang="en-US" sz="3600">
                <a:solidFill>
                  <a:srgbClr val="000000"/>
                </a:solidFill>
                <a:latin typeface="Times New Roman"/>
                <a:ea typeface="Times New Roman"/>
                <a:cs typeface="Times New Roman"/>
                <a:sym typeface="Times New Roman"/>
              </a:rPr>
              <a:t>Overall, the system will enhance emergency response efficiency and improve patient survival rates.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7006" y="2332749"/>
            <a:ext cx="18541994" cy="8081258"/>
          </a:xfrm>
          <a:custGeom>
            <a:avLst/>
            <a:gdLst/>
            <a:ahLst/>
            <a:cxnLst/>
            <a:rect l="l" t="t" r="r" b="b"/>
            <a:pathLst>
              <a:path w="18541994" h="8081258">
                <a:moveTo>
                  <a:pt x="0" y="0"/>
                </a:moveTo>
                <a:lnTo>
                  <a:pt x="18541993" y="0"/>
                </a:lnTo>
                <a:lnTo>
                  <a:pt x="18541993" y="8081257"/>
                </a:lnTo>
                <a:lnTo>
                  <a:pt x="0" y="80812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6284938" y="4295889"/>
            <a:ext cx="5718124" cy="1514246"/>
          </a:xfrm>
          <a:prstGeom prst="rect">
            <a:avLst/>
          </a:prstGeom>
        </p:spPr>
        <p:txBody>
          <a:bodyPr lIns="0" tIns="0" rIns="0" bIns="0" rtlCol="0" anchor="t">
            <a:spAutoFit/>
          </a:bodyPr>
          <a:lstStyle/>
          <a:p>
            <a:pPr algn="l">
              <a:lnSpc>
                <a:spcPts val="12319"/>
              </a:lnSpc>
            </a:pPr>
            <a:r>
              <a:rPr lang="en-US" sz="8800" b="1">
                <a:solidFill>
                  <a:srgbClr val="2A3990"/>
                </a:solidFill>
                <a:latin typeface="Roboto Bold"/>
                <a:ea typeface="Roboto Bold"/>
                <a:cs typeface="Roboto Bold"/>
                <a:sym typeface="Roboto Bold"/>
              </a:rPr>
              <a:t>Questions</a:t>
            </a:r>
            <a:r>
              <a:rPr lang="en-US" sz="8800">
                <a:solidFill>
                  <a:srgbClr val="2A3990"/>
                </a:solidFill>
                <a:latin typeface="Roboto"/>
                <a:ea typeface="Roboto"/>
                <a:cs typeface="Roboto"/>
                <a:sym typeface="Roboto"/>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610</Words>
  <Application>Microsoft Office PowerPoint</Application>
  <PresentationFormat>Custom</PresentationFormat>
  <Paragraphs>64</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Times New Roman Bold</vt:lpstr>
      <vt:lpstr>Times New Roman</vt:lpstr>
      <vt:lpstr>Roboto Bold</vt:lpstr>
      <vt:lpstr>Calibri</vt:lpstr>
      <vt:lpstr>Arial</vt:lpstr>
      <vt:lpstr>Roboto</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MediScan AI</dc:title>
  <cp:lastModifiedBy>Tarun G</cp:lastModifiedBy>
  <cp:revision>2</cp:revision>
  <dcterms:created xsi:type="dcterms:W3CDTF">2006-08-16T00:00:00Z</dcterms:created>
  <dcterms:modified xsi:type="dcterms:W3CDTF">2025-12-14T15:53:49Z</dcterms:modified>
  <dc:identifier>DAG2n7BM7ik</dc:identifier>
</cp:coreProperties>
</file>